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71"/>
    <p:restoredTop sz="94610"/>
  </p:normalViewPr>
  <p:slideViewPr>
    <p:cSldViewPr snapToGrid="0" snapToObjects="1">
      <p:cViewPr>
        <p:scale>
          <a:sx n="120" d="100"/>
          <a:sy n="120" d="100"/>
        </p:scale>
        <p:origin x="-48" y="10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 ($B)</c:v>
                </c:pt>
              </c:strCache>
            </c:strRef>
          </c:tx>
          <c:spPr>
            <a:ln w="38100" cap="flat">
              <a:solidFill>
                <a:srgbClr val="1D1D24"/>
              </a:solidFill>
              <a:prstDash val="solid"/>
              <a:round/>
            </a:ln>
            <a:effectLst/>
          </c:spPr>
          <c:marker>
            <c:symbol val="circle"/>
            <c:size val="5"/>
            <c:spPr>
              <a:solidFill>
                <a:srgbClr val="1D1D24"/>
              </a:solidFill>
              <a:ln w="9525" cap="flat">
                <a:solidFill>
                  <a:srgbClr val="1D1D24"/>
                </a:solidFill>
                <a:prstDash val="solid"/>
                <a:round/>
              </a:ln>
              <a:effectLst/>
            </c:spPr>
          </c:marker>
          <c:cat>
            <c:strRef>
              <c:f>Sheet1!$A$2:$A$22</c:f>
              <c:strCache>
                <c:ptCount val="21"/>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strCache>
            </c:strRef>
          </c:cat>
          <c:val>
            <c:numRef>
              <c:f>Sheet1!$B$2:$B$22</c:f>
              <c:numCache>
                <c:formatCode>General</c:formatCode>
                <c:ptCount val="21"/>
                <c:pt idx="0">
                  <c:v>15.4</c:v>
                </c:pt>
                <c:pt idx="1">
                  <c:v>17.14</c:v>
                </c:pt>
                <c:pt idx="2">
                  <c:v>19.059999999999999</c:v>
                </c:pt>
                <c:pt idx="3">
                  <c:v>20.46</c:v>
                </c:pt>
                <c:pt idx="4">
                  <c:v>20.81</c:v>
                </c:pt>
                <c:pt idx="5">
                  <c:v>22.78</c:v>
                </c:pt>
                <c:pt idx="6">
                  <c:v>23.52</c:v>
                </c:pt>
                <c:pt idx="7">
                  <c:v>22.74</c:v>
                </c:pt>
                <c:pt idx="8">
                  <c:v>24.07</c:v>
                </c:pt>
                <c:pt idx="9">
                  <c:v>27</c:v>
                </c:pt>
                <c:pt idx="10">
                  <c:v>27.56</c:v>
                </c:pt>
                <c:pt idx="11">
                  <c:v>28.1</c:v>
                </c:pt>
                <c:pt idx="12">
                  <c:v>27.44</c:v>
                </c:pt>
                <c:pt idx="13">
                  <c:v>25.41</c:v>
                </c:pt>
                <c:pt idx="14">
                  <c:v>24.62</c:v>
                </c:pt>
                <c:pt idx="15">
                  <c:v>22.82</c:v>
                </c:pt>
                <c:pt idx="16">
                  <c:v>21.02</c:v>
                </c:pt>
                <c:pt idx="17">
                  <c:v>21.28</c:v>
                </c:pt>
                <c:pt idx="18">
                  <c:v>19.2</c:v>
                </c:pt>
                <c:pt idx="19">
                  <c:v>23.22</c:v>
                </c:pt>
                <c:pt idx="20">
                  <c:v>23.18</c:v>
                </c:pt>
              </c:numCache>
            </c:numRef>
          </c:val>
          <c:smooth val="0"/>
          <c:extLst>
            <c:ext xmlns:c16="http://schemas.microsoft.com/office/drawing/2014/chart" uri="{C3380CC4-5D6E-409C-BE32-E72D297353CC}">
              <c16:uniqueId val="{00000000-6014-DE48-B91F-C6F441906268}"/>
            </c:ext>
          </c:extLst>
        </c:ser>
        <c:ser>
          <c:idx val="1"/>
          <c:order val="1"/>
          <c:tx>
            <c:strRef>
              <c:f>Sheet1!$C$1</c:f>
              <c:strCache>
                <c:ptCount val="1"/>
                <c:pt idx="0">
                  <c:v>Earnings ($B)</c:v>
                </c:pt>
              </c:strCache>
            </c:strRef>
          </c:tx>
          <c:spPr>
            <a:ln w="38100" cap="flat">
              <a:solidFill>
                <a:srgbClr val="DA291C"/>
              </a:solidFill>
              <a:prstDash val="solid"/>
              <a:round/>
            </a:ln>
            <a:effectLst/>
          </c:spPr>
          <c:marker>
            <c:symbol val="circle"/>
            <c:size val="5"/>
            <c:spPr>
              <a:solidFill>
                <a:srgbClr val="DA291C"/>
              </a:solidFill>
              <a:ln w="9525" cap="flat">
                <a:solidFill>
                  <a:srgbClr val="DA291C"/>
                </a:solidFill>
                <a:prstDash val="solid"/>
                <a:round/>
              </a:ln>
              <a:effectLst/>
            </c:spPr>
          </c:marker>
          <c:cat>
            <c:strRef>
              <c:f>Sheet1!$A$2:$A$22</c:f>
              <c:strCache>
                <c:ptCount val="21"/>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strCache>
            </c:strRef>
          </c:cat>
          <c:val>
            <c:numRef>
              <c:f>Sheet1!$C$2:$C$22</c:f>
              <c:numCache>
                <c:formatCode>General</c:formatCode>
                <c:ptCount val="21"/>
                <c:pt idx="0">
                  <c:v>1.66</c:v>
                </c:pt>
                <c:pt idx="1">
                  <c:v>2.34</c:v>
                </c:pt>
                <c:pt idx="2">
                  <c:v>3.2</c:v>
                </c:pt>
                <c:pt idx="3">
                  <c:v>3.7</c:v>
                </c:pt>
                <c:pt idx="4">
                  <c:v>3.88</c:v>
                </c:pt>
                <c:pt idx="5">
                  <c:v>3.57</c:v>
                </c:pt>
                <c:pt idx="6">
                  <c:v>6.15</c:v>
                </c:pt>
                <c:pt idx="7">
                  <c:v>6.48</c:v>
                </c:pt>
                <c:pt idx="8">
                  <c:v>7</c:v>
                </c:pt>
                <c:pt idx="9">
                  <c:v>8.01</c:v>
                </c:pt>
                <c:pt idx="10">
                  <c:v>8.07</c:v>
                </c:pt>
                <c:pt idx="11">
                  <c:v>8.1999999999999993</c:v>
                </c:pt>
                <c:pt idx="12">
                  <c:v>7.37</c:v>
                </c:pt>
                <c:pt idx="13">
                  <c:v>6.55</c:v>
                </c:pt>
                <c:pt idx="14">
                  <c:v>6.86</c:v>
                </c:pt>
                <c:pt idx="15">
                  <c:v>8.57</c:v>
                </c:pt>
                <c:pt idx="16">
                  <c:v>7.81</c:v>
                </c:pt>
                <c:pt idx="17">
                  <c:v>8.01</c:v>
                </c:pt>
                <c:pt idx="18">
                  <c:v>6.14</c:v>
                </c:pt>
                <c:pt idx="19">
                  <c:v>9.1199999999999992</c:v>
                </c:pt>
                <c:pt idx="20">
                  <c:v>7.82</c:v>
                </c:pt>
              </c:numCache>
            </c:numRef>
          </c:val>
          <c:smooth val="0"/>
          <c:extLst>
            <c:ext xmlns:c16="http://schemas.microsoft.com/office/drawing/2014/chart" uri="{C3380CC4-5D6E-409C-BE32-E72D297353CC}">
              <c16:uniqueId val="{00000001-6014-DE48-B91F-C6F44190626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6B6B7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5E8"/>
              </a:solidFill>
              <a:prstDash val="solid"/>
              <a:round/>
            </a:ln>
          </c:spPr>
        </c:majorGridlines>
        <c:title>
          <c:tx>
            <c:rich>
              <a:bodyPr/>
              <a:lstStyle/>
              <a:p>
                <a:pPr>
                  <a:defRPr sz="1000" b="0" i="0" u="none" strike="noStrike">
                    <a:solidFill>
                      <a:srgbClr val="6B6B76"/>
                    </a:solidFill>
                    <a:latin typeface="Arial"/>
                  </a:defRPr>
                </a:pPr>
                <a:r>
                  <a:rPr lang="en-US" sz="1000" b="0" i="0" u="none" strike="noStrike">
                    <a:solidFill>
                      <a:srgbClr val="6B6B76"/>
                    </a:solidFill>
                    <a:latin typeface="Arial"/>
                  </a:rPr>
                  <a:t>$ Billions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7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3A42"/>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1"/>
          <c:order val="1"/>
          <c:tx>
            <c:strRef>
              <c:f>Sheet1!$C$1</c:f>
              <c:strCache>
                <c:ptCount val="1"/>
                <c:pt idx="0">
                  <c:v>Operating Margin (%)</c:v>
                </c:pt>
              </c:strCache>
            </c:strRef>
          </c:tx>
          <c:spPr>
            <a:solidFill>
              <a:srgbClr val="FFC72C"/>
            </a:solidFill>
            <a:effectLst/>
          </c:spPr>
          <c:invertIfNegative val="0"/>
          <c:cat>
            <c:strRef>
              <c:f>Sheet1!$A$2:$A$15</c:f>
              <c:strCache>
                <c:ptCount val="1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strCache>
            </c:strRef>
          </c:cat>
          <c:val>
            <c:numRef>
              <c:f>Sheet1!$C$2:$C$15</c:f>
              <c:numCache>
                <c:formatCode>General</c:formatCode>
                <c:ptCount val="14"/>
                <c:pt idx="0">
                  <c:v>10.79</c:v>
                </c:pt>
                <c:pt idx="1">
                  <c:v>13.69</c:v>
                </c:pt>
                <c:pt idx="2">
                  <c:v>16.8</c:v>
                </c:pt>
                <c:pt idx="3">
                  <c:v>18.09</c:v>
                </c:pt>
                <c:pt idx="4">
                  <c:v>19.3</c:v>
                </c:pt>
                <c:pt idx="5">
                  <c:v>15.68</c:v>
                </c:pt>
                <c:pt idx="6">
                  <c:v>26.18</c:v>
                </c:pt>
                <c:pt idx="7">
                  <c:v>28.52</c:v>
                </c:pt>
                <c:pt idx="8">
                  <c:v>29.08</c:v>
                </c:pt>
                <c:pt idx="9">
                  <c:v>29.67</c:v>
                </c:pt>
                <c:pt idx="10">
                  <c:v>29.31</c:v>
                </c:pt>
                <c:pt idx="11">
                  <c:v>29.19</c:v>
                </c:pt>
                <c:pt idx="12">
                  <c:v>26.86</c:v>
                </c:pt>
                <c:pt idx="13">
                  <c:v>25.8</c:v>
                </c:pt>
              </c:numCache>
            </c:numRef>
          </c:val>
          <c:extLst>
            <c:ext xmlns:c16="http://schemas.microsoft.com/office/drawing/2014/chart" uri="{C3380CC4-5D6E-409C-BE32-E72D297353CC}">
              <c16:uniqueId val="{00000001-DB88-334A-BA8C-D6DFB0393952}"/>
            </c:ext>
          </c:extLst>
        </c:ser>
        <c:dLbls>
          <c:showLegendKey val="0"/>
          <c:showVal val="0"/>
          <c:showCatName val="0"/>
          <c:showSerName val="0"/>
          <c:showPercent val="0"/>
          <c:showBubbleSize val="0"/>
        </c:dLbls>
        <c:gapWidth val="150"/>
        <c:axId val="2094734554"/>
        <c:axId val="2094734552"/>
      </c:barChart>
      <c:lineChart>
        <c:grouping val="standard"/>
        <c:varyColors val="0"/>
        <c:ser>
          <c:idx val="0"/>
          <c:order val="0"/>
          <c:tx>
            <c:strRef>
              <c:f>Sheet1!$B$1</c:f>
              <c:strCache>
                <c:ptCount val="1"/>
                <c:pt idx="0">
                  <c:v>ROE (%)</c:v>
                </c:pt>
              </c:strCache>
            </c:strRef>
          </c:tx>
          <c:spPr>
            <a:ln w="38100" cap="flat">
              <a:solidFill>
                <a:srgbClr val="DA291C"/>
              </a:solidFill>
              <a:prstDash val="solid"/>
              <a:round/>
            </a:ln>
            <a:effectLst/>
          </c:spPr>
          <c:marker>
            <c:symbol val="circle"/>
            <c:size val="5"/>
            <c:spPr>
              <a:solidFill>
                <a:srgbClr val="DA291C"/>
              </a:solidFill>
              <a:ln w="9525" cap="flat">
                <a:solidFill>
                  <a:srgbClr val="DA291C"/>
                </a:solidFill>
                <a:prstDash val="solid"/>
                <a:round/>
              </a:ln>
              <a:effectLst/>
            </c:spPr>
          </c:marker>
          <c:cat>
            <c:strRef>
              <c:f>Sheet1!$A$2:$A$15</c:f>
              <c:strCache>
                <c:ptCount val="1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strCache>
            </c:strRef>
          </c:cat>
          <c:val>
            <c:numRef>
              <c:f>Sheet1!$B$2:$B$15</c:f>
              <c:numCache>
                <c:formatCode>General</c:formatCode>
                <c:ptCount val="14"/>
                <c:pt idx="0">
                  <c:v>16.149999999999999</c:v>
                </c:pt>
                <c:pt idx="1">
                  <c:v>19.53</c:v>
                </c:pt>
                <c:pt idx="2">
                  <c:v>22.54</c:v>
                </c:pt>
                <c:pt idx="3">
                  <c:v>24.44</c:v>
                </c:pt>
                <c:pt idx="4">
                  <c:v>25.11</c:v>
                </c:pt>
                <c:pt idx="5">
                  <c:v>23.38</c:v>
                </c:pt>
                <c:pt idx="6">
                  <c:v>45.96</c:v>
                </c:pt>
                <c:pt idx="7">
                  <c:v>46.19</c:v>
                </c:pt>
                <c:pt idx="8">
                  <c:v>47.85</c:v>
                </c:pt>
                <c:pt idx="9">
                  <c:v>55.66</c:v>
                </c:pt>
                <c:pt idx="10">
                  <c:v>52.78</c:v>
                </c:pt>
                <c:pt idx="11">
                  <c:v>51.25</c:v>
                </c:pt>
                <c:pt idx="12">
                  <c:v>57.35</c:v>
                </c:pt>
                <c:pt idx="13">
                  <c:v>92.51</c:v>
                </c:pt>
              </c:numCache>
            </c:numRef>
          </c:val>
          <c:smooth val="0"/>
          <c:extLst>
            <c:ext xmlns:c16="http://schemas.microsoft.com/office/drawing/2014/chart" uri="{C3380CC4-5D6E-409C-BE32-E72D297353CC}">
              <c16:uniqueId val="{00000000-DB88-334A-BA8C-D6DFB0393952}"/>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2"/>
          <c:order val="2"/>
          <c:tx>
            <c:strRef>
              <c:f>Sheet1!$D$1</c:f>
              <c:strCache>
                <c:ptCount val="1"/>
                <c:pt idx="0">
                  <c:v>Equity Multiplier (x)</c:v>
                </c:pt>
              </c:strCache>
            </c:strRef>
          </c:tx>
          <c:spPr>
            <a:ln w="31750" cap="flat">
              <a:solidFill>
                <a:srgbClr val="1D1D24"/>
              </a:solidFill>
              <a:prstDash val="dash"/>
              <a:round/>
            </a:ln>
            <a:effectLst/>
          </c:spPr>
          <c:marker>
            <c:symbol val="circle"/>
            <c:size val="4"/>
            <c:spPr>
              <a:solidFill>
                <a:srgbClr val="1D1D24"/>
              </a:solidFill>
              <a:ln w="9525" cap="flat">
                <a:solidFill>
                  <a:srgbClr val="1D1D24"/>
                </a:solidFill>
                <a:prstDash val="solid"/>
                <a:round/>
              </a:ln>
              <a:effectLst/>
            </c:spPr>
          </c:marker>
          <c:cat>
            <c:strRef>
              <c:f>Sheet1!$A$2:$A$15</c:f>
              <c:strCache>
                <c:ptCount val="1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strCache>
            </c:strRef>
          </c:cat>
          <c:val>
            <c:numRef>
              <c:f>Sheet1!$D$2:$D$15</c:f>
              <c:numCache>
                <c:formatCode>General</c:formatCode>
                <c:ptCount val="14"/>
                <c:pt idx="0">
                  <c:v>2.33</c:v>
                </c:pt>
                <c:pt idx="1">
                  <c:v>2.13</c:v>
                </c:pt>
                <c:pt idx="2">
                  <c:v>1.96</c:v>
                </c:pt>
                <c:pt idx="3">
                  <c:v>1.98</c:v>
                </c:pt>
                <c:pt idx="4">
                  <c:v>1.88</c:v>
                </c:pt>
                <c:pt idx="5">
                  <c:v>1.92</c:v>
                </c:pt>
                <c:pt idx="6">
                  <c:v>2.13</c:v>
                </c:pt>
                <c:pt idx="7">
                  <c:v>2.15</c:v>
                </c:pt>
                <c:pt idx="8">
                  <c:v>2.19</c:v>
                </c:pt>
                <c:pt idx="9">
                  <c:v>2.29</c:v>
                </c:pt>
                <c:pt idx="10">
                  <c:v>2.31</c:v>
                </c:pt>
                <c:pt idx="11">
                  <c:v>2.29</c:v>
                </c:pt>
                <c:pt idx="12">
                  <c:v>2.67</c:v>
                </c:pt>
                <c:pt idx="13">
                  <c:v>5.36</c:v>
                </c:pt>
              </c:numCache>
            </c:numRef>
          </c:val>
          <c:smooth val="0"/>
          <c:extLst>
            <c:ext xmlns:c16="http://schemas.microsoft.com/office/drawing/2014/chart" uri="{C3380CC4-5D6E-409C-BE32-E72D297353CC}">
              <c16:uniqueId val="{00000002-DB88-334A-BA8C-D6DFB0393952}"/>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7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5E8"/>
              </a:solidFill>
              <a:prstDash val="solid"/>
              <a:round/>
            </a:ln>
          </c:spPr>
        </c:majorGridlines>
        <c:title>
          <c:tx>
            <c:rich>
              <a:bodyPr/>
              <a:lstStyle/>
              <a:p>
                <a:pPr>
                  <a:defRPr sz="1000" b="0" i="0" u="none" strike="noStrike">
                    <a:solidFill>
                      <a:srgbClr val="6B6B76"/>
                    </a:solidFill>
                    <a:latin typeface="Arial"/>
                  </a:defRPr>
                </a:pPr>
                <a:r>
                  <a:rPr lang="en-US" sz="1000" b="0" i="0" u="none" strike="noStrike">
                    <a:solidFill>
                      <a:srgbClr val="6B6B76"/>
                    </a:solidFill>
                    <a:latin typeface="Arial"/>
                  </a:rPr>
                  <a:t>ROE / Op. Margin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76"/>
                </a:solidFill>
                <a:latin typeface="Arial"/>
              </a:defRPr>
            </a:pPr>
            <a:endParaRPr lang="en-US"/>
          </a:p>
        </c:txPr>
        <c:crossAx val="2094734554"/>
        <c:crosses val="autoZero"/>
        <c:crossBetween val="between"/>
      </c:valAx>
      <c:valAx>
        <c:axId val="2094734553"/>
        <c:scaling>
          <c:orientation val="minMax"/>
        </c:scaling>
        <c:delete val="0"/>
        <c:axPos val="r"/>
        <c:title>
          <c:tx>
            <c:rich>
              <a:bodyPr/>
              <a:lstStyle/>
              <a:p>
                <a:pPr>
                  <a:defRPr sz="1000" b="0" i="0" u="none" strike="noStrike">
                    <a:solidFill>
                      <a:srgbClr val="6B6B76"/>
                    </a:solidFill>
                    <a:latin typeface="Arial"/>
                  </a:defRPr>
                </a:pPr>
                <a:r>
                  <a:rPr lang="en-US" sz="1000" b="0" i="0" u="none" strike="noStrike">
                    <a:solidFill>
                      <a:srgbClr val="6B6B76"/>
                    </a:solidFill>
                    <a:latin typeface="Arial"/>
                  </a:rPr>
                  <a:t>Equity Multiplier (x)</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76"/>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a:noFill/>
        </a:ln>
        <a:effectLst/>
      </c:spPr>
    </c:plotArea>
    <c:legend>
      <c:legendPos val="b"/>
      <c:overlay val="0"/>
      <c:txPr>
        <a:bodyPr/>
        <a:lstStyle/>
        <a:p>
          <a:pPr>
            <a:defRPr sz="1100">
              <a:solidFill>
                <a:srgbClr val="3A3A42"/>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Debt-to-Equity (x, 2002–15)</c:v>
                </c:pt>
              </c:strCache>
            </c:strRef>
          </c:tx>
          <c:spPr>
            <a:ln w="38100" cap="flat">
              <a:solidFill>
                <a:srgbClr val="DA291C"/>
              </a:solidFill>
              <a:prstDash val="solid"/>
              <a:round/>
            </a:ln>
            <a:effectLst/>
          </c:spPr>
          <c:marker>
            <c:symbol val="circle"/>
            <c:size val="5"/>
            <c:spPr>
              <a:solidFill>
                <a:srgbClr val="DA291C"/>
              </a:solidFill>
              <a:ln w="9525" cap="flat">
                <a:solidFill>
                  <a:srgbClr val="DA291C"/>
                </a:solidFill>
                <a:prstDash val="solid"/>
                <a:round/>
              </a:ln>
              <a:effectLst/>
            </c:spPr>
          </c:marker>
          <c:cat>
            <c:strRef>
              <c:f>Sheet1!$A$2:$A$22</c:f>
              <c:strCache>
                <c:ptCount val="21"/>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strCache>
            </c:strRef>
          </c:cat>
          <c:val>
            <c:numRef>
              <c:f>Sheet1!$B$2:$B$22</c:f>
              <c:numCache>
                <c:formatCode>General</c:formatCode>
                <c:ptCount val="21"/>
                <c:pt idx="0">
                  <c:v>0.97</c:v>
                </c:pt>
                <c:pt idx="1">
                  <c:v>0.81</c:v>
                </c:pt>
                <c:pt idx="2">
                  <c:v>0.65</c:v>
                </c:pt>
                <c:pt idx="3">
                  <c:v>0.67</c:v>
                </c:pt>
                <c:pt idx="4">
                  <c:v>0.55000000000000004</c:v>
                </c:pt>
                <c:pt idx="5">
                  <c:v>0.61</c:v>
                </c:pt>
                <c:pt idx="6">
                  <c:v>0.76</c:v>
                </c:pt>
                <c:pt idx="7">
                  <c:v>0.75</c:v>
                </c:pt>
                <c:pt idx="8">
                  <c:v>0.79</c:v>
                </c:pt>
                <c:pt idx="9">
                  <c:v>0.87</c:v>
                </c:pt>
                <c:pt idx="10">
                  <c:v>0.89</c:v>
                </c:pt>
                <c:pt idx="11">
                  <c:v>0.88</c:v>
                </c:pt>
                <c:pt idx="12">
                  <c:v>1.17</c:v>
                </c:pt>
                <c:pt idx="13">
                  <c:v>3.41</c:v>
                </c:pt>
              </c:numCache>
            </c:numRef>
          </c:val>
          <c:smooth val="0"/>
          <c:extLst>
            <c:ext xmlns:c16="http://schemas.microsoft.com/office/drawing/2014/chart" uri="{C3380CC4-5D6E-409C-BE32-E72D297353CC}">
              <c16:uniqueId val="{00000000-568B-6348-9915-2AC0EC5E9A11}"/>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1"/>
          <c:order val="1"/>
          <c:tx>
            <c:strRef>
              <c:f>Sheet1!$C$1</c:f>
              <c:strCache>
                <c:ptCount val="1"/>
                <c:pt idx="0">
                  <c:v>Debt-to-Asset (%)</c:v>
                </c:pt>
              </c:strCache>
            </c:strRef>
          </c:tx>
          <c:spPr>
            <a:ln w="38100" cap="flat">
              <a:solidFill>
                <a:srgbClr val="FFC72C"/>
              </a:solidFill>
              <a:prstDash val="solid"/>
              <a:round/>
            </a:ln>
            <a:effectLst/>
          </c:spPr>
          <c:marker>
            <c:symbol val="circle"/>
            <c:size val="5"/>
            <c:spPr>
              <a:solidFill>
                <a:srgbClr val="FFC72C"/>
              </a:solidFill>
              <a:ln w="9525" cap="flat">
                <a:solidFill>
                  <a:srgbClr val="FFC72C"/>
                </a:solidFill>
                <a:prstDash val="solid"/>
                <a:round/>
              </a:ln>
              <a:effectLst/>
            </c:spPr>
          </c:marker>
          <c:cat>
            <c:strRef>
              <c:f>Sheet1!$A$2:$A$22</c:f>
              <c:strCache>
                <c:ptCount val="21"/>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strCache>
            </c:strRef>
          </c:cat>
          <c:val>
            <c:numRef>
              <c:f>Sheet1!$C$2:$C$22</c:f>
              <c:numCache>
                <c:formatCode>General</c:formatCode>
                <c:ptCount val="21"/>
                <c:pt idx="0">
                  <c:v>41.59</c:v>
                </c:pt>
                <c:pt idx="1">
                  <c:v>38.130000000000003</c:v>
                </c:pt>
                <c:pt idx="2">
                  <c:v>33.090000000000003</c:v>
                </c:pt>
                <c:pt idx="3">
                  <c:v>33.82</c:v>
                </c:pt>
                <c:pt idx="4">
                  <c:v>29.05</c:v>
                </c:pt>
                <c:pt idx="5">
                  <c:v>31.64</c:v>
                </c:pt>
                <c:pt idx="6">
                  <c:v>35.869999999999997</c:v>
                </c:pt>
                <c:pt idx="7">
                  <c:v>34.979999999999997</c:v>
                </c:pt>
                <c:pt idx="8">
                  <c:v>35.97</c:v>
                </c:pt>
                <c:pt idx="9">
                  <c:v>37.9</c:v>
                </c:pt>
                <c:pt idx="10">
                  <c:v>38.520000000000003</c:v>
                </c:pt>
                <c:pt idx="11">
                  <c:v>38.56</c:v>
                </c:pt>
                <c:pt idx="12">
                  <c:v>43.7</c:v>
                </c:pt>
                <c:pt idx="13">
                  <c:v>63.59</c:v>
                </c:pt>
                <c:pt idx="14">
                  <c:v>83.66</c:v>
                </c:pt>
                <c:pt idx="15">
                  <c:v>87.37</c:v>
                </c:pt>
                <c:pt idx="16">
                  <c:v>94.7</c:v>
                </c:pt>
                <c:pt idx="17">
                  <c:v>98.65</c:v>
                </c:pt>
                <c:pt idx="18">
                  <c:v>92.19</c:v>
                </c:pt>
                <c:pt idx="19">
                  <c:v>90.75</c:v>
                </c:pt>
                <c:pt idx="20">
                  <c:v>95.24</c:v>
                </c:pt>
              </c:numCache>
            </c:numRef>
          </c:val>
          <c:smooth val="0"/>
          <c:extLst>
            <c:ext xmlns:c16="http://schemas.microsoft.com/office/drawing/2014/chart" uri="{C3380CC4-5D6E-409C-BE32-E72D297353CC}">
              <c16:uniqueId val="{00000001-568B-6348-9915-2AC0EC5E9A11}"/>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9A9AA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3A3A45"/>
              </a:solidFill>
              <a:prstDash val="solid"/>
              <a:round/>
            </a:ln>
          </c:spPr>
        </c:majorGridlines>
        <c:title>
          <c:tx>
            <c:rich>
              <a:bodyPr/>
              <a:lstStyle/>
              <a:p>
                <a:pPr>
                  <a:defRPr sz="1000" b="0" i="0" u="none" strike="noStrike">
                    <a:solidFill>
                      <a:srgbClr val="9A9AA5"/>
                    </a:solidFill>
                    <a:latin typeface="Arial"/>
                  </a:defRPr>
                </a:pPr>
                <a:r>
                  <a:rPr lang="en-US" sz="1000" b="0" i="0" u="none" strike="noStrike">
                    <a:solidFill>
                      <a:srgbClr val="9A9AA5"/>
                    </a:solidFill>
                    <a:latin typeface="Arial"/>
                  </a:rPr>
                  <a:t>Debt / Equity (x)</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9AA5"/>
                </a:solidFill>
                <a:latin typeface="Arial"/>
              </a:defRPr>
            </a:pPr>
            <a:endParaRPr lang="en-US"/>
          </a:p>
        </c:txPr>
        <c:crossAx val="2094734554"/>
        <c:crosses val="autoZero"/>
        <c:crossBetween val="between"/>
      </c:valAx>
      <c:valAx>
        <c:axId val="2094734553"/>
        <c:scaling>
          <c:orientation val="minMax"/>
        </c:scaling>
        <c:delete val="0"/>
        <c:axPos val="r"/>
        <c:title>
          <c:tx>
            <c:rich>
              <a:bodyPr/>
              <a:lstStyle/>
              <a:p>
                <a:pPr>
                  <a:defRPr sz="1000" b="0" i="0" u="none" strike="noStrike">
                    <a:solidFill>
                      <a:srgbClr val="9A9AA5"/>
                    </a:solidFill>
                    <a:latin typeface="Arial"/>
                  </a:defRPr>
                </a:pPr>
                <a:r>
                  <a:rPr lang="en-US" sz="1000" b="0" i="0" u="none" strike="noStrike">
                    <a:solidFill>
                      <a:srgbClr val="9A9AA5"/>
                    </a:solidFill>
                    <a:latin typeface="Arial"/>
                  </a:rPr>
                  <a:t>Debt / Asset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9AA5"/>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a:noFill/>
        </a:ln>
        <a:effectLst/>
      </c:spPr>
    </c:plotArea>
    <c:legend>
      <c:legendPos val="b"/>
      <c:overlay val="0"/>
      <c:txPr>
        <a:bodyPr/>
        <a:lstStyle/>
        <a:p>
          <a:pPr>
            <a:defRPr sz="1100">
              <a:solidFill>
                <a:srgbClr val="E5E5E8"/>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Pay-out Ratio (%)</c:v>
                </c:pt>
              </c:strCache>
            </c:strRef>
          </c:tx>
          <c:spPr>
            <a:solidFill>
              <a:srgbClr val="FFC72C"/>
            </a:solidFill>
            <a:effectLst/>
          </c:spPr>
          <c:invertIfNegative val="0"/>
          <c:cat>
            <c:strRef>
              <c:f>Sheet1!$A$2:$A$22</c:f>
              <c:strCache>
                <c:ptCount val="21"/>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strCache>
            </c:strRef>
          </c:cat>
          <c:val>
            <c:numRef>
              <c:f>Sheet1!$B$2:$B$22</c:f>
              <c:numCache>
                <c:formatCode>General</c:formatCode>
                <c:ptCount val="21"/>
                <c:pt idx="0">
                  <c:v>14.46</c:v>
                </c:pt>
                <c:pt idx="1">
                  <c:v>17.09</c:v>
                </c:pt>
                <c:pt idx="2">
                  <c:v>17.190000000000001</c:v>
                </c:pt>
                <c:pt idx="3">
                  <c:v>18.11</c:v>
                </c:pt>
                <c:pt idx="4">
                  <c:v>25.77</c:v>
                </c:pt>
                <c:pt idx="5">
                  <c:v>42.02</c:v>
                </c:pt>
                <c:pt idx="6">
                  <c:v>26.34</c:v>
                </c:pt>
                <c:pt idx="7">
                  <c:v>31.64</c:v>
                </c:pt>
                <c:pt idx="8">
                  <c:v>32.29</c:v>
                </c:pt>
                <c:pt idx="9">
                  <c:v>31.59</c:v>
                </c:pt>
                <c:pt idx="10">
                  <c:v>35.56</c:v>
                </c:pt>
                <c:pt idx="11">
                  <c:v>38.049999999999997</c:v>
                </c:pt>
                <c:pt idx="12">
                  <c:v>44.5</c:v>
                </c:pt>
                <c:pt idx="13">
                  <c:v>52.52</c:v>
                </c:pt>
                <c:pt idx="14">
                  <c:v>52.62</c:v>
                </c:pt>
                <c:pt idx="15">
                  <c:v>44.69</c:v>
                </c:pt>
                <c:pt idx="16">
                  <c:v>53.65</c:v>
                </c:pt>
                <c:pt idx="17">
                  <c:v>59.05</c:v>
                </c:pt>
                <c:pt idx="18">
                  <c:v>82.08</c:v>
                </c:pt>
                <c:pt idx="19">
                  <c:v>57.57</c:v>
                </c:pt>
                <c:pt idx="20">
                  <c:v>72.38</c:v>
                </c:pt>
              </c:numCache>
            </c:numRef>
          </c:val>
          <c:extLst>
            <c:ext xmlns:c16="http://schemas.microsoft.com/office/drawing/2014/chart" uri="{C3380CC4-5D6E-409C-BE32-E72D297353CC}">
              <c16:uniqueId val="{00000000-C405-624B-8169-2D558F204377}"/>
            </c:ext>
          </c:extLst>
        </c:ser>
        <c:dLbls>
          <c:showLegendKey val="0"/>
          <c:showVal val="0"/>
          <c:showCatName val="0"/>
          <c:showSerName val="0"/>
          <c:showPercent val="0"/>
          <c:showBubbleSize val="0"/>
        </c:dLbls>
        <c:gapWidth val="150"/>
        <c:axId val="2094734554"/>
        <c:axId val="2094734552"/>
      </c:barChart>
      <c:lineChart>
        <c:grouping val="standard"/>
        <c:varyColors val="0"/>
        <c:ser>
          <c:idx val="1"/>
          <c:order val="1"/>
          <c:tx>
            <c:strRef>
              <c:f>Sheet1!$C$1</c:f>
              <c:strCache>
                <c:ptCount val="1"/>
                <c:pt idx="0">
                  <c:v>Dividend Yield (%)</c:v>
                </c:pt>
              </c:strCache>
            </c:strRef>
          </c:tx>
          <c:spPr>
            <a:ln w="38100" cap="flat">
              <a:solidFill>
                <a:srgbClr val="DA291C"/>
              </a:solidFill>
              <a:prstDash val="solid"/>
              <a:round/>
            </a:ln>
            <a:effectLst/>
          </c:spPr>
          <c:marker>
            <c:symbol val="circle"/>
            <c:size val="5"/>
            <c:spPr>
              <a:solidFill>
                <a:srgbClr val="DA291C"/>
              </a:solidFill>
              <a:ln w="9525" cap="flat">
                <a:solidFill>
                  <a:srgbClr val="DA291C"/>
                </a:solidFill>
                <a:prstDash val="solid"/>
                <a:round/>
              </a:ln>
              <a:effectLst/>
            </c:spPr>
          </c:marker>
          <c:cat>
            <c:strRef>
              <c:f>Sheet1!$A$2:$A$22</c:f>
              <c:strCache>
                <c:ptCount val="21"/>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strCache>
            </c:strRef>
          </c:cat>
          <c:val>
            <c:numRef>
              <c:f>Sheet1!$C$2:$C$22</c:f>
              <c:numCache>
                <c:formatCode>General</c:formatCode>
                <c:ptCount val="21"/>
                <c:pt idx="0">
                  <c:v>1.46</c:v>
                </c:pt>
                <c:pt idx="1">
                  <c:v>1.61</c:v>
                </c:pt>
                <c:pt idx="2">
                  <c:v>1.72</c:v>
                </c:pt>
                <c:pt idx="3">
                  <c:v>1.99</c:v>
                </c:pt>
                <c:pt idx="4">
                  <c:v>2.2599999999999998</c:v>
                </c:pt>
                <c:pt idx="5">
                  <c:v>2.5499999999999998</c:v>
                </c:pt>
                <c:pt idx="6">
                  <c:v>2.61</c:v>
                </c:pt>
                <c:pt idx="7">
                  <c:v>3.28</c:v>
                </c:pt>
                <c:pt idx="8">
                  <c:v>2.94</c:v>
                </c:pt>
                <c:pt idx="9">
                  <c:v>2.52</c:v>
                </c:pt>
                <c:pt idx="10">
                  <c:v>3.25</c:v>
                </c:pt>
                <c:pt idx="11">
                  <c:v>3.22</c:v>
                </c:pt>
                <c:pt idx="12">
                  <c:v>3.5</c:v>
                </c:pt>
                <c:pt idx="13">
                  <c:v>2.91</c:v>
                </c:pt>
                <c:pt idx="14">
                  <c:v>2.97</c:v>
                </c:pt>
                <c:pt idx="15">
                  <c:v>2.23</c:v>
                </c:pt>
                <c:pt idx="16">
                  <c:v>2.36</c:v>
                </c:pt>
                <c:pt idx="17">
                  <c:v>2.39</c:v>
                </c:pt>
                <c:pt idx="18">
                  <c:v>2.35</c:v>
                </c:pt>
                <c:pt idx="19">
                  <c:v>1.96</c:v>
                </c:pt>
                <c:pt idx="20">
                  <c:v>2.15</c:v>
                </c:pt>
              </c:numCache>
            </c:numRef>
          </c:val>
          <c:smooth val="0"/>
          <c:extLst>
            <c:ext xmlns:c16="http://schemas.microsoft.com/office/drawing/2014/chart" uri="{C3380CC4-5D6E-409C-BE32-E72D297353CC}">
              <c16:uniqueId val="{00000001-C405-624B-8169-2D558F204377}"/>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6B6B7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5E8"/>
              </a:solidFill>
              <a:prstDash val="solid"/>
              <a:round/>
            </a:ln>
          </c:spPr>
        </c:majorGridlines>
        <c:title>
          <c:tx>
            <c:rich>
              <a:bodyPr/>
              <a:lstStyle/>
              <a:p>
                <a:pPr>
                  <a:defRPr sz="1000" b="0" i="0" u="none" strike="noStrike">
                    <a:solidFill>
                      <a:srgbClr val="6B6B76"/>
                    </a:solidFill>
                    <a:latin typeface="Arial"/>
                  </a:defRPr>
                </a:pPr>
                <a:r>
                  <a:rPr lang="en-US" sz="1000" b="0" i="0" u="none" strike="noStrike">
                    <a:solidFill>
                      <a:srgbClr val="6B6B76"/>
                    </a:solidFill>
                    <a:latin typeface="Arial"/>
                  </a:rPr>
                  <a:t>Pay-out Ratio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76"/>
                </a:solidFill>
                <a:latin typeface="Arial"/>
              </a:defRPr>
            </a:pPr>
            <a:endParaRPr lang="en-US"/>
          </a:p>
        </c:txPr>
        <c:crossAx val="2094734554"/>
        <c:crosses val="autoZero"/>
        <c:crossBetween val="between"/>
      </c:valAx>
      <c:valAx>
        <c:axId val="2094734553"/>
        <c:scaling>
          <c:orientation val="minMax"/>
        </c:scaling>
        <c:delete val="0"/>
        <c:axPos val="r"/>
        <c:title>
          <c:tx>
            <c:rich>
              <a:bodyPr/>
              <a:lstStyle/>
              <a:p>
                <a:pPr>
                  <a:defRPr sz="1000" b="0" i="0" u="none" strike="noStrike">
                    <a:solidFill>
                      <a:srgbClr val="6B6B76"/>
                    </a:solidFill>
                    <a:latin typeface="Arial"/>
                  </a:defRPr>
                </a:pPr>
                <a:r>
                  <a:rPr lang="en-US" sz="1000" b="0" i="0" u="none" strike="noStrike">
                    <a:solidFill>
                      <a:srgbClr val="6B6B76"/>
                    </a:solidFill>
                    <a:latin typeface="Arial"/>
                  </a:rPr>
                  <a:t>Dividend Yield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76"/>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a:noFill/>
        </a:ln>
        <a:effectLst/>
      </c:spPr>
    </c:plotArea>
    <c:legend>
      <c:legendPos val="b"/>
      <c:overlay val="0"/>
      <c:txPr>
        <a:bodyPr/>
        <a:lstStyle/>
        <a:p>
          <a:pPr>
            <a:defRPr sz="1100">
              <a:solidFill>
                <a:srgbClr val="3A3A42"/>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Return on Assets (%)</c:v>
                </c:pt>
              </c:strCache>
            </c:strRef>
          </c:tx>
          <c:spPr>
            <a:ln w="38100" cap="flat">
              <a:solidFill>
                <a:srgbClr val="1D1D24"/>
              </a:solidFill>
              <a:prstDash val="solid"/>
              <a:round/>
            </a:ln>
            <a:effectLst/>
          </c:spPr>
          <c:marker>
            <c:symbol val="circle"/>
            <c:size val="5"/>
            <c:spPr>
              <a:solidFill>
                <a:srgbClr val="1D1D24"/>
              </a:solidFill>
              <a:ln w="9525" cap="flat">
                <a:solidFill>
                  <a:srgbClr val="1D1D24"/>
                </a:solidFill>
                <a:prstDash val="solid"/>
                <a:round/>
              </a:ln>
              <a:effectLst/>
            </c:spPr>
          </c:marker>
          <c:cat>
            <c:strRef>
              <c:f>Sheet1!$A$2:$A$22</c:f>
              <c:strCache>
                <c:ptCount val="21"/>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strCache>
            </c:strRef>
          </c:cat>
          <c:val>
            <c:numRef>
              <c:f>Sheet1!$B$2:$B$22</c:f>
              <c:numCache>
                <c:formatCode>General</c:formatCode>
                <c:ptCount val="21"/>
                <c:pt idx="0">
                  <c:v>6.93</c:v>
                </c:pt>
                <c:pt idx="1">
                  <c:v>9.17</c:v>
                </c:pt>
                <c:pt idx="2">
                  <c:v>11.5</c:v>
                </c:pt>
                <c:pt idx="3">
                  <c:v>12.34</c:v>
                </c:pt>
                <c:pt idx="4">
                  <c:v>13.37</c:v>
                </c:pt>
                <c:pt idx="5">
                  <c:v>12.15</c:v>
                </c:pt>
                <c:pt idx="6">
                  <c:v>21.61</c:v>
                </c:pt>
                <c:pt idx="7">
                  <c:v>21.44</c:v>
                </c:pt>
                <c:pt idx="8">
                  <c:v>21.9</c:v>
                </c:pt>
                <c:pt idx="9">
                  <c:v>24.29</c:v>
                </c:pt>
                <c:pt idx="10">
                  <c:v>22.81</c:v>
                </c:pt>
                <c:pt idx="11">
                  <c:v>22.39</c:v>
                </c:pt>
                <c:pt idx="12">
                  <c:v>21.5</c:v>
                </c:pt>
                <c:pt idx="13">
                  <c:v>17.27</c:v>
                </c:pt>
                <c:pt idx="14">
                  <c:v>22.11</c:v>
                </c:pt>
                <c:pt idx="15">
                  <c:v>25.36</c:v>
                </c:pt>
                <c:pt idx="16">
                  <c:v>23.8</c:v>
                </c:pt>
                <c:pt idx="17">
                  <c:v>16.86</c:v>
                </c:pt>
                <c:pt idx="18">
                  <c:v>11.67</c:v>
                </c:pt>
                <c:pt idx="19">
                  <c:v>17.010000000000002</c:v>
                </c:pt>
                <c:pt idx="20">
                  <c:v>15.51</c:v>
                </c:pt>
              </c:numCache>
            </c:numRef>
          </c:val>
          <c:smooth val="0"/>
          <c:extLst>
            <c:ext xmlns:c16="http://schemas.microsoft.com/office/drawing/2014/chart" uri="{C3380CC4-5D6E-409C-BE32-E72D297353CC}">
              <c16:uniqueId val="{00000000-56C3-FA45-BFDB-6A1DB62FE17F}"/>
            </c:ext>
          </c:extLst>
        </c:ser>
        <c:ser>
          <c:idx val="1"/>
          <c:order val="1"/>
          <c:tx>
            <c:strRef>
              <c:f>Sheet1!$C$1</c:f>
              <c:strCache>
                <c:ptCount val="1"/>
                <c:pt idx="0">
                  <c:v>Operating Margin (%)</c:v>
                </c:pt>
              </c:strCache>
            </c:strRef>
          </c:tx>
          <c:spPr>
            <a:ln w="38100" cap="flat">
              <a:solidFill>
                <a:srgbClr val="FFC72C"/>
              </a:solidFill>
              <a:prstDash val="solid"/>
              <a:round/>
            </a:ln>
            <a:effectLst/>
          </c:spPr>
          <c:marker>
            <c:symbol val="circle"/>
            <c:size val="5"/>
            <c:spPr>
              <a:solidFill>
                <a:srgbClr val="FFC72C"/>
              </a:solidFill>
              <a:ln w="9525" cap="flat">
                <a:solidFill>
                  <a:srgbClr val="FFC72C"/>
                </a:solidFill>
                <a:prstDash val="solid"/>
                <a:round/>
              </a:ln>
              <a:effectLst/>
            </c:spPr>
          </c:marker>
          <c:cat>
            <c:strRef>
              <c:f>Sheet1!$A$2:$A$22</c:f>
              <c:strCache>
                <c:ptCount val="21"/>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strCache>
            </c:strRef>
          </c:cat>
          <c:val>
            <c:numRef>
              <c:f>Sheet1!$C$2:$C$22</c:f>
              <c:numCache>
                <c:formatCode>General</c:formatCode>
                <c:ptCount val="21"/>
                <c:pt idx="0">
                  <c:v>10.79</c:v>
                </c:pt>
                <c:pt idx="1">
                  <c:v>13.69</c:v>
                </c:pt>
                <c:pt idx="2">
                  <c:v>16.8</c:v>
                </c:pt>
                <c:pt idx="3">
                  <c:v>18.09</c:v>
                </c:pt>
                <c:pt idx="4">
                  <c:v>19.3</c:v>
                </c:pt>
                <c:pt idx="5">
                  <c:v>15.68</c:v>
                </c:pt>
                <c:pt idx="6">
                  <c:v>26.18</c:v>
                </c:pt>
                <c:pt idx="7">
                  <c:v>28.52</c:v>
                </c:pt>
                <c:pt idx="8">
                  <c:v>29.08</c:v>
                </c:pt>
                <c:pt idx="9">
                  <c:v>29.67</c:v>
                </c:pt>
                <c:pt idx="10">
                  <c:v>29.31</c:v>
                </c:pt>
                <c:pt idx="11">
                  <c:v>29.19</c:v>
                </c:pt>
                <c:pt idx="12">
                  <c:v>26.86</c:v>
                </c:pt>
                <c:pt idx="13">
                  <c:v>25.8</c:v>
                </c:pt>
                <c:pt idx="14">
                  <c:v>27.89</c:v>
                </c:pt>
                <c:pt idx="15">
                  <c:v>37.57</c:v>
                </c:pt>
                <c:pt idx="16">
                  <c:v>37.17</c:v>
                </c:pt>
                <c:pt idx="17">
                  <c:v>38.04</c:v>
                </c:pt>
                <c:pt idx="18">
                  <c:v>31.97</c:v>
                </c:pt>
                <c:pt idx="19">
                  <c:v>39.31</c:v>
                </c:pt>
                <c:pt idx="20">
                  <c:v>33.76</c:v>
                </c:pt>
              </c:numCache>
            </c:numRef>
          </c:val>
          <c:smooth val="0"/>
          <c:extLst>
            <c:ext xmlns:c16="http://schemas.microsoft.com/office/drawing/2014/chart" uri="{C3380CC4-5D6E-409C-BE32-E72D297353CC}">
              <c16:uniqueId val="{00000001-56C3-FA45-BFDB-6A1DB62FE17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6B6B7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5E8"/>
              </a:solidFill>
              <a:prstDash val="solid"/>
              <a:round/>
            </a:ln>
          </c:spPr>
        </c:majorGridlines>
        <c:title>
          <c:tx>
            <c:rich>
              <a:bodyPr/>
              <a:lstStyle/>
              <a:p>
                <a:pPr>
                  <a:defRPr sz="1000" b="0" i="0" u="none" strike="noStrike">
                    <a:solidFill>
                      <a:srgbClr val="6B6B76"/>
                    </a:solidFill>
                    <a:latin typeface="Arial"/>
                  </a:defRPr>
                </a:pPr>
                <a:r>
                  <a:rPr lang="en-US" sz="1000" b="0" i="0" u="none" strike="noStrike">
                    <a:solidFill>
                      <a:srgbClr val="6B6B76"/>
                    </a:solidFill>
                    <a:latin typeface="Arial"/>
                  </a:rPr>
                  <a:t>Percent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7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3A42"/>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076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D24"/>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2A2A33"/>
          </a:solidFill>
          <a:ln/>
        </p:spPr>
      </p:sp>
      <p:sp>
        <p:nvSpPr>
          <p:cNvPr id="3" name="Shape 1"/>
          <p:cNvSpPr/>
          <p:nvPr/>
        </p:nvSpPr>
        <p:spPr>
          <a:xfrm>
            <a:off x="10881360" y="4480560"/>
            <a:ext cx="2926080" cy="2926080"/>
          </a:xfrm>
          <a:prstGeom prst="ellipse">
            <a:avLst/>
          </a:prstGeom>
          <a:solidFill>
            <a:srgbClr val="2A2A33"/>
          </a:solidFill>
          <a:ln/>
        </p:spPr>
      </p:sp>
      <p:sp>
        <p:nvSpPr>
          <p:cNvPr id="4" name="Text 2"/>
          <p:cNvSpPr/>
          <p:nvPr/>
        </p:nvSpPr>
        <p:spPr>
          <a:xfrm>
            <a:off x="822960" y="1417320"/>
            <a:ext cx="5486400" cy="365760"/>
          </a:xfrm>
          <a:prstGeom prst="rect">
            <a:avLst/>
          </a:prstGeom>
          <a:noFill/>
          <a:ln/>
        </p:spPr>
        <p:txBody>
          <a:bodyPr wrap="square" rtlCol="0" anchor="ctr"/>
          <a:lstStyle/>
          <a:p>
            <a:pPr marL="0" indent="0">
              <a:buNone/>
            </a:pPr>
            <a:r>
              <a:rPr lang="en-US" sz="1300" b="1" kern="0" spc="300" dirty="0">
                <a:solidFill>
                  <a:srgbClr val="FFC72C"/>
                </a:solidFill>
                <a:latin typeface="Calibri" pitchFamily="34" charset="0"/>
                <a:ea typeface="Calibri" pitchFamily="34" charset="-122"/>
                <a:cs typeface="Calibri" pitchFamily="34" charset="-120"/>
              </a:rPr>
              <a:t>PORTFOLIO PROJECT</a:t>
            </a:r>
            <a:endParaRPr lang="en-US" sz="1300" dirty="0"/>
          </a:p>
        </p:txBody>
      </p:sp>
      <p:sp>
        <p:nvSpPr>
          <p:cNvPr id="5" name="Text 3"/>
          <p:cNvSpPr/>
          <p:nvPr/>
        </p:nvSpPr>
        <p:spPr>
          <a:xfrm>
            <a:off x="777240" y="1874520"/>
            <a:ext cx="9601200" cy="9144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McDonald's Corporation</a:t>
            </a:r>
            <a:endParaRPr lang="en-US" sz="4400" dirty="0"/>
          </a:p>
        </p:txBody>
      </p:sp>
      <p:sp>
        <p:nvSpPr>
          <p:cNvPr id="6" name="Text 4"/>
          <p:cNvSpPr/>
          <p:nvPr/>
        </p:nvSpPr>
        <p:spPr>
          <a:xfrm>
            <a:off x="822960" y="2697480"/>
            <a:ext cx="9601200" cy="640080"/>
          </a:xfrm>
          <a:prstGeom prst="rect">
            <a:avLst/>
          </a:prstGeom>
          <a:noFill/>
          <a:ln/>
        </p:spPr>
        <p:txBody>
          <a:bodyPr wrap="square" rtlCol="0" anchor="ctr"/>
          <a:lstStyle/>
          <a:p>
            <a:pPr marL="0" indent="0">
              <a:buNone/>
            </a:pPr>
            <a:r>
              <a:rPr lang="en-US" sz="2400" dirty="0">
                <a:solidFill>
                  <a:srgbClr val="9A9AA5"/>
                </a:solidFill>
                <a:latin typeface="Cambria" pitchFamily="34" charset="0"/>
                <a:ea typeface="Cambria" pitchFamily="34" charset="-122"/>
                <a:cs typeface="Cambria" pitchFamily="34" charset="-120"/>
              </a:rPr>
              <a:t>Financial Performance Analysis, 2002–2022</a:t>
            </a:r>
            <a:endParaRPr lang="en-US" sz="2400" dirty="0"/>
          </a:p>
        </p:txBody>
      </p:sp>
      <p:sp>
        <p:nvSpPr>
          <p:cNvPr id="7" name="Shape 5"/>
          <p:cNvSpPr/>
          <p:nvPr/>
        </p:nvSpPr>
        <p:spPr>
          <a:xfrm>
            <a:off x="822960" y="3520440"/>
            <a:ext cx="502920" cy="45720"/>
          </a:xfrm>
          <a:prstGeom prst="rect">
            <a:avLst/>
          </a:prstGeom>
          <a:solidFill>
            <a:srgbClr val="DA291C"/>
          </a:solidFill>
          <a:ln/>
        </p:spPr>
      </p:sp>
      <p:sp>
        <p:nvSpPr>
          <p:cNvPr id="8" name="Text 6"/>
          <p:cNvSpPr/>
          <p:nvPr/>
        </p:nvSpPr>
        <p:spPr>
          <a:xfrm>
            <a:off x="822960" y="3749040"/>
            <a:ext cx="8686800" cy="548640"/>
          </a:xfrm>
          <a:prstGeom prst="rect">
            <a:avLst/>
          </a:prstGeom>
          <a:noFill/>
          <a:ln/>
        </p:spPr>
        <p:txBody>
          <a:bodyPr wrap="square" rtlCol="0" anchor="ctr"/>
          <a:lstStyle/>
          <a:p>
            <a:pPr marL="0" indent="0">
              <a:buNone/>
            </a:pPr>
            <a:r>
              <a:rPr lang="en-US" sz="1400" dirty="0">
                <a:solidFill>
                  <a:srgbClr val="C7C7CF"/>
                </a:solidFill>
                <a:latin typeface="Calibri" pitchFamily="34" charset="0"/>
                <a:ea typeface="Calibri" pitchFamily="34" charset="-122"/>
                <a:cs typeface="Calibri" pitchFamily="34" charset="-120"/>
              </a:rPr>
              <a:t>Revenue and earnings trends • DuPont profitability decomposition • leverage and risk • dividend sustainability</a:t>
            </a:r>
            <a:endParaRPr lang="en-US" sz="1400" dirty="0"/>
          </a:p>
        </p:txBody>
      </p:sp>
      <p:sp>
        <p:nvSpPr>
          <p:cNvPr id="9" name="Text 7"/>
          <p:cNvSpPr/>
          <p:nvPr/>
        </p:nvSpPr>
        <p:spPr>
          <a:xfrm>
            <a:off x="822960" y="5989320"/>
            <a:ext cx="9144000" cy="365760"/>
          </a:xfrm>
          <a:prstGeom prst="rect">
            <a:avLst/>
          </a:prstGeom>
          <a:noFill/>
          <a:ln/>
        </p:spPr>
        <p:txBody>
          <a:bodyPr wrap="square" rtlCol="0" anchor="ctr"/>
          <a:lstStyle/>
          <a:p>
            <a:pPr marL="0" indent="0">
              <a:buNone/>
            </a:pPr>
            <a:r>
              <a:rPr lang="en-US" sz="1100" i="1" dirty="0">
                <a:solidFill>
                  <a:srgbClr val="9A9AA5"/>
                </a:solidFill>
                <a:latin typeface="Calibri" pitchFamily="34" charset="0"/>
                <a:ea typeface="Calibri" pitchFamily="34" charset="-122"/>
                <a:cs typeface="Calibri" pitchFamily="34" charset="-120"/>
              </a:rPr>
              <a:t>Built in Excel (Power Query, DAX-style calculated fields, VBA-driven dashboard) · Data source: Kaggle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A291C"/>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777240"/>
            <a:ext cx="10515600" cy="548640"/>
          </a:xfrm>
          <a:prstGeom prst="rect">
            <a:avLst/>
          </a:prstGeom>
          <a:noFill/>
          <a:ln/>
        </p:spPr>
        <p:txBody>
          <a:bodyPr wrap="square" rtlCol="0" anchor="ctr"/>
          <a:lstStyle/>
          <a:p>
            <a:pPr marL="0" indent="0">
              <a:buNone/>
            </a:pPr>
            <a:r>
              <a:rPr lang="en-US" sz="3000" b="1" dirty="0">
                <a:solidFill>
                  <a:srgbClr val="1D1D24"/>
                </a:solidFill>
                <a:latin typeface="Cambria" pitchFamily="34" charset="0"/>
                <a:ea typeface="Cambria" pitchFamily="34" charset="-122"/>
                <a:cs typeface="Cambria" pitchFamily="34" charset="-120"/>
              </a:rPr>
              <a:t>Two Decades, Two Different Stories</a:t>
            </a:r>
            <a:endParaRPr lang="en-US" sz="3000" dirty="0"/>
          </a:p>
        </p:txBody>
      </p:sp>
      <p:sp>
        <p:nvSpPr>
          <p:cNvPr id="4" name="Text 2"/>
          <p:cNvSpPr/>
          <p:nvPr/>
        </p:nvSpPr>
        <p:spPr>
          <a:xfrm>
            <a:off x="548640" y="1417320"/>
            <a:ext cx="10881360" cy="822960"/>
          </a:xfrm>
          <a:prstGeom prst="rect">
            <a:avLst/>
          </a:prstGeom>
          <a:noFill/>
          <a:ln/>
        </p:spPr>
        <p:txBody>
          <a:bodyPr wrap="square" rtlCol="0" anchor="ctr"/>
          <a:lstStyle/>
          <a:p>
            <a:pPr marL="0" indent="0">
              <a:lnSpc>
                <a:spcPct val="125000"/>
              </a:lnSpc>
              <a:buNone/>
            </a:pPr>
            <a:r>
              <a:rPr lang="en-US" sz="1350" dirty="0">
                <a:solidFill>
                  <a:srgbClr val="3A3A42"/>
                </a:solidFill>
                <a:latin typeface="Calibri" pitchFamily="34" charset="0"/>
                <a:ea typeface="Calibri" pitchFamily="34" charset="-122"/>
                <a:cs typeface="Calibri" pitchFamily="34" charset="-120"/>
              </a:rPr>
              <a:t>McDonald's grew steadily through the 2000s, then shifted after 2013–14 from revenue expansion toward margin discipline and an increasingly leveraged capital structure. Earnings and operating margin held up well; the balance sheet did not.</a:t>
            </a:r>
            <a:endParaRPr lang="en-US" sz="1350" dirty="0"/>
          </a:p>
        </p:txBody>
      </p:sp>
      <p:sp>
        <p:nvSpPr>
          <p:cNvPr id="5" name="Shape 3"/>
          <p:cNvSpPr/>
          <p:nvPr/>
        </p:nvSpPr>
        <p:spPr>
          <a:xfrm>
            <a:off x="548640" y="2514600"/>
            <a:ext cx="5257800" cy="1463040"/>
          </a:xfrm>
          <a:prstGeom prst="roundRect">
            <a:avLst>
              <a:gd name="adj" fmla="val 3750"/>
            </a:avLst>
          </a:prstGeom>
          <a:solidFill>
            <a:srgbClr val="F2F2F2"/>
          </a:solidFill>
          <a:ln/>
        </p:spPr>
      </p:sp>
      <p:sp>
        <p:nvSpPr>
          <p:cNvPr id="6" name="Shape 4"/>
          <p:cNvSpPr/>
          <p:nvPr/>
        </p:nvSpPr>
        <p:spPr>
          <a:xfrm>
            <a:off x="822960" y="2788920"/>
            <a:ext cx="457200" cy="457200"/>
          </a:xfrm>
          <a:prstGeom prst="ellipse">
            <a:avLst/>
          </a:prstGeom>
          <a:solidFill>
            <a:srgbClr val="1D1D24"/>
          </a:solidFill>
          <a:ln/>
        </p:spPr>
      </p:sp>
      <p:sp>
        <p:nvSpPr>
          <p:cNvPr id="7" name="Text 5"/>
          <p:cNvSpPr/>
          <p:nvPr/>
        </p:nvSpPr>
        <p:spPr>
          <a:xfrm>
            <a:off x="822960" y="2788920"/>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463040" y="2679192"/>
            <a:ext cx="4114800" cy="502920"/>
          </a:xfrm>
          <a:prstGeom prst="rect">
            <a:avLst/>
          </a:prstGeom>
          <a:noFill/>
          <a:ln/>
        </p:spPr>
        <p:txBody>
          <a:bodyPr wrap="square" rtlCol="0" anchor="ctr"/>
          <a:lstStyle/>
          <a:p>
            <a:pPr marL="0" indent="0">
              <a:buNone/>
            </a:pPr>
            <a:r>
              <a:rPr lang="en-US" sz="1900" b="1" dirty="0">
                <a:solidFill>
                  <a:srgbClr val="1D1D24"/>
                </a:solidFill>
                <a:latin typeface="Cambria" pitchFamily="34" charset="0"/>
                <a:ea typeface="Cambria" pitchFamily="34" charset="-122"/>
                <a:cs typeface="Cambria" pitchFamily="34" charset="-120"/>
              </a:rPr>
              <a:t>$15.4B → $28.1B</a:t>
            </a:r>
            <a:endParaRPr lang="en-US" sz="1900" dirty="0"/>
          </a:p>
        </p:txBody>
      </p:sp>
      <p:sp>
        <p:nvSpPr>
          <p:cNvPr id="9" name="Text 7"/>
          <p:cNvSpPr/>
          <p:nvPr/>
        </p:nvSpPr>
        <p:spPr>
          <a:xfrm>
            <a:off x="1463040" y="3227832"/>
            <a:ext cx="4114800" cy="640080"/>
          </a:xfrm>
          <a:prstGeom prst="rect">
            <a:avLst/>
          </a:prstGeom>
          <a:noFill/>
          <a:ln/>
        </p:spPr>
        <p:txBody>
          <a:bodyPr wrap="square" rtlCol="0" anchor="ctr"/>
          <a:lstStyle/>
          <a:p>
            <a:pPr marL="0" indent="0">
              <a:lnSpc>
                <a:spcPct val="120000"/>
              </a:lnSpc>
              <a:buNone/>
            </a:pPr>
            <a:r>
              <a:rPr lang="en-US" sz="1200" dirty="0">
                <a:solidFill>
                  <a:srgbClr val="3A3A42"/>
                </a:solidFill>
                <a:latin typeface="Calibri" pitchFamily="34" charset="0"/>
                <a:ea typeface="Calibri" pitchFamily="34" charset="-122"/>
                <a:cs typeface="Calibri" pitchFamily="34" charset="-120"/>
              </a:rPr>
              <a:t>Revenue grew to a 2013 peak, then eased to $23.2B by 2022</a:t>
            </a:r>
            <a:endParaRPr lang="en-US" sz="1200" dirty="0"/>
          </a:p>
        </p:txBody>
      </p:sp>
      <p:sp>
        <p:nvSpPr>
          <p:cNvPr id="10" name="Shape 8"/>
          <p:cNvSpPr/>
          <p:nvPr/>
        </p:nvSpPr>
        <p:spPr>
          <a:xfrm>
            <a:off x="6126480" y="2514600"/>
            <a:ext cx="5257800" cy="1463040"/>
          </a:xfrm>
          <a:prstGeom prst="roundRect">
            <a:avLst>
              <a:gd name="adj" fmla="val 3750"/>
            </a:avLst>
          </a:prstGeom>
          <a:solidFill>
            <a:srgbClr val="F2F2F2"/>
          </a:solidFill>
          <a:ln/>
        </p:spPr>
      </p:sp>
      <p:sp>
        <p:nvSpPr>
          <p:cNvPr id="11" name="Shape 9"/>
          <p:cNvSpPr/>
          <p:nvPr/>
        </p:nvSpPr>
        <p:spPr>
          <a:xfrm>
            <a:off x="6400800" y="2788920"/>
            <a:ext cx="457200" cy="457200"/>
          </a:xfrm>
          <a:prstGeom prst="ellipse">
            <a:avLst/>
          </a:prstGeom>
          <a:solidFill>
            <a:srgbClr val="1D1D24"/>
          </a:solidFill>
          <a:ln/>
        </p:spPr>
      </p:sp>
      <p:sp>
        <p:nvSpPr>
          <p:cNvPr id="12" name="Text 10"/>
          <p:cNvSpPr/>
          <p:nvPr/>
        </p:nvSpPr>
        <p:spPr>
          <a:xfrm>
            <a:off x="6400800" y="2788920"/>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7040880" y="2679192"/>
            <a:ext cx="4114800" cy="502920"/>
          </a:xfrm>
          <a:prstGeom prst="rect">
            <a:avLst/>
          </a:prstGeom>
          <a:noFill/>
          <a:ln/>
        </p:spPr>
        <p:txBody>
          <a:bodyPr wrap="square" rtlCol="0" anchor="ctr"/>
          <a:lstStyle/>
          <a:p>
            <a:pPr marL="0" indent="0">
              <a:buNone/>
            </a:pPr>
            <a:r>
              <a:rPr lang="en-US" sz="1900" b="1" dirty="0">
                <a:solidFill>
                  <a:srgbClr val="1D1D24"/>
                </a:solidFill>
                <a:latin typeface="Cambria" pitchFamily="34" charset="0"/>
                <a:ea typeface="Cambria" pitchFamily="34" charset="-122"/>
                <a:cs typeface="Cambria" pitchFamily="34" charset="-120"/>
              </a:rPr>
              <a:t>$1.66B → ~$8B</a:t>
            </a:r>
            <a:endParaRPr lang="en-US" sz="1900" dirty="0"/>
          </a:p>
        </p:txBody>
      </p:sp>
      <p:sp>
        <p:nvSpPr>
          <p:cNvPr id="14" name="Text 12"/>
          <p:cNvSpPr/>
          <p:nvPr/>
        </p:nvSpPr>
        <p:spPr>
          <a:xfrm>
            <a:off x="7040880" y="3227832"/>
            <a:ext cx="4114800" cy="640080"/>
          </a:xfrm>
          <a:prstGeom prst="rect">
            <a:avLst/>
          </a:prstGeom>
          <a:noFill/>
          <a:ln/>
        </p:spPr>
        <p:txBody>
          <a:bodyPr wrap="square" rtlCol="0" anchor="ctr"/>
          <a:lstStyle/>
          <a:p>
            <a:pPr marL="0" indent="0">
              <a:lnSpc>
                <a:spcPct val="120000"/>
              </a:lnSpc>
              <a:buNone/>
            </a:pPr>
            <a:r>
              <a:rPr lang="en-US" sz="1200" dirty="0">
                <a:solidFill>
                  <a:srgbClr val="3A3A42"/>
                </a:solidFill>
                <a:latin typeface="Calibri" pitchFamily="34" charset="0"/>
                <a:ea typeface="Calibri" pitchFamily="34" charset="-122"/>
                <a:cs typeface="Calibri" pitchFamily="34" charset="-120"/>
              </a:rPr>
              <a:t>Earnings climbed faster than revenue and then held stable</a:t>
            </a:r>
            <a:endParaRPr lang="en-US" sz="1200" dirty="0"/>
          </a:p>
        </p:txBody>
      </p:sp>
      <p:sp>
        <p:nvSpPr>
          <p:cNvPr id="15" name="Shape 13"/>
          <p:cNvSpPr/>
          <p:nvPr/>
        </p:nvSpPr>
        <p:spPr>
          <a:xfrm>
            <a:off x="548640" y="4206240"/>
            <a:ext cx="5257800" cy="1463040"/>
          </a:xfrm>
          <a:prstGeom prst="roundRect">
            <a:avLst>
              <a:gd name="adj" fmla="val 3750"/>
            </a:avLst>
          </a:prstGeom>
          <a:solidFill>
            <a:srgbClr val="F2F2F2"/>
          </a:solidFill>
          <a:ln/>
        </p:spPr>
      </p:sp>
      <p:sp>
        <p:nvSpPr>
          <p:cNvPr id="16" name="Shape 14"/>
          <p:cNvSpPr/>
          <p:nvPr/>
        </p:nvSpPr>
        <p:spPr>
          <a:xfrm>
            <a:off x="822960" y="4480560"/>
            <a:ext cx="457200" cy="457200"/>
          </a:xfrm>
          <a:prstGeom prst="ellipse">
            <a:avLst/>
          </a:prstGeom>
          <a:solidFill>
            <a:srgbClr val="DA291C"/>
          </a:solidFill>
          <a:ln/>
        </p:spPr>
      </p:sp>
      <p:sp>
        <p:nvSpPr>
          <p:cNvPr id="17" name="Text 15"/>
          <p:cNvSpPr/>
          <p:nvPr/>
        </p:nvSpPr>
        <p:spPr>
          <a:xfrm>
            <a:off x="822960" y="4480560"/>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463040" y="4370832"/>
            <a:ext cx="4114800" cy="502920"/>
          </a:xfrm>
          <a:prstGeom prst="rect">
            <a:avLst/>
          </a:prstGeom>
          <a:noFill/>
          <a:ln/>
        </p:spPr>
        <p:txBody>
          <a:bodyPr wrap="square" rtlCol="0" anchor="ctr"/>
          <a:lstStyle/>
          <a:p>
            <a:pPr marL="0" indent="0">
              <a:buNone/>
            </a:pPr>
            <a:r>
              <a:rPr lang="en-US" sz="1900" b="1" dirty="0">
                <a:solidFill>
                  <a:srgbClr val="DA291C"/>
                </a:solidFill>
                <a:latin typeface="Cambria" pitchFamily="34" charset="0"/>
                <a:ea typeface="Cambria" pitchFamily="34" charset="-122"/>
                <a:cs typeface="Cambria" pitchFamily="34" charset="-120"/>
              </a:rPr>
              <a:t>Equity turned negative</a:t>
            </a:r>
            <a:endParaRPr lang="en-US" sz="1900" dirty="0"/>
          </a:p>
        </p:txBody>
      </p:sp>
      <p:sp>
        <p:nvSpPr>
          <p:cNvPr id="19" name="Text 17"/>
          <p:cNvSpPr/>
          <p:nvPr/>
        </p:nvSpPr>
        <p:spPr>
          <a:xfrm>
            <a:off x="1463040" y="4919472"/>
            <a:ext cx="4114800" cy="640080"/>
          </a:xfrm>
          <a:prstGeom prst="rect">
            <a:avLst/>
          </a:prstGeom>
          <a:noFill/>
          <a:ln/>
        </p:spPr>
        <p:txBody>
          <a:bodyPr wrap="square" rtlCol="0" anchor="ctr"/>
          <a:lstStyle/>
          <a:p>
            <a:pPr marL="0" indent="0">
              <a:lnSpc>
                <a:spcPct val="120000"/>
              </a:lnSpc>
              <a:buNone/>
            </a:pPr>
            <a:r>
              <a:rPr lang="en-US" sz="1200" dirty="0">
                <a:solidFill>
                  <a:srgbClr val="3A3A42"/>
                </a:solidFill>
                <a:latin typeface="Calibri" pitchFamily="34" charset="0"/>
                <a:ea typeface="Calibri" pitchFamily="34" charset="-122"/>
                <a:cs typeface="Calibri" pitchFamily="34" charset="-120"/>
              </a:rPr>
              <a:t>Post-2014 debt-funded buybacks pushed Net Assets below zero by 2016</a:t>
            </a:r>
            <a:endParaRPr lang="en-US" sz="1200" dirty="0"/>
          </a:p>
        </p:txBody>
      </p:sp>
      <p:sp>
        <p:nvSpPr>
          <p:cNvPr id="20" name="Shape 18"/>
          <p:cNvSpPr/>
          <p:nvPr/>
        </p:nvSpPr>
        <p:spPr>
          <a:xfrm>
            <a:off x="6126480" y="4206240"/>
            <a:ext cx="5257800" cy="1463040"/>
          </a:xfrm>
          <a:prstGeom prst="roundRect">
            <a:avLst>
              <a:gd name="adj" fmla="val 3750"/>
            </a:avLst>
          </a:prstGeom>
          <a:solidFill>
            <a:srgbClr val="F2F2F2"/>
          </a:solidFill>
          <a:ln/>
        </p:spPr>
      </p:sp>
      <p:sp>
        <p:nvSpPr>
          <p:cNvPr id="21" name="Shape 19"/>
          <p:cNvSpPr/>
          <p:nvPr/>
        </p:nvSpPr>
        <p:spPr>
          <a:xfrm>
            <a:off x="6400800" y="4480560"/>
            <a:ext cx="457200" cy="457200"/>
          </a:xfrm>
          <a:prstGeom prst="ellipse">
            <a:avLst/>
          </a:prstGeom>
          <a:solidFill>
            <a:srgbClr val="DA291C"/>
          </a:solidFill>
          <a:ln/>
        </p:spPr>
      </p:sp>
      <p:sp>
        <p:nvSpPr>
          <p:cNvPr id="22" name="Text 20"/>
          <p:cNvSpPr/>
          <p:nvPr/>
        </p:nvSpPr>
        <p:spPr>
          <a:xfrm>
            <a:off x="6400800" y="4480560"/>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7040880" y="4370832"/>
            <a:ext cx="4114800" cy="502920"/>
          </a:xfrm>
          <a:prstGeom prst="rect">
            <a:avLst/>
          </a:prstGeom>
          <a:noFill/>
          <a:ln/>
        </p:spPr>
        <p:txBody>
          <a:bodyPr wrap="square" rtlCol="0" anchor="ctr"/>
          <a:lstStyle/>
          <a:p>
            <a:pPr marL="0" indent="0">
              <a:buNone/>
            </a:pPr>
            <a:r>
              <a:rPr lang="en-US" sz="1900" b="1" dirty="0">
                <a:solidFill>
                  <a:srgbClr val="DA291C"/>
                </a:solidFill>
                <a:latin typeface="Cambria" pitchFamily="34" charset="0"/>
                <a:ea typeface="Cambria" pitchFamily="34" charset="-122"/>
                <a:cs typeface="Cambria" pitchFamily="34" charset="-120"/>
              </a:rPr>
              <a:t>Pay-out ratio: 14% → 72%</a:t>
            </a:r>
            <a:endParaRPr lang="en-US" sz="1900" dirty="0"/>
          </a:p>
        </p:txBody>
      </p:sp>
      <p:sp>
        <p:nvSpPr>
          <p:cNvPr id="24" name="Text 22"/>
          <p:cNvSpPr/>
          <p:nvPr/>
        </p:nvSpPr>
        <p:spPr>
          <a:xfrm>
            <a:off x="7040880" y="4919472"/>
            <a:ext cx="4114800" cy="640080"/>
          </a:xfrm>
          <a:prstGeom prst="rect">
            <a:avLst/>
          </a:prstGeom>
          <a:noFill/>
          <a:ln/>
        </p:spPr>
        <p:txBody>
          <a:bodyPr wrap="square" rtlCol="0" anchor="ctr"/>
          <a:lstStyle/>
          <a:p>
            <a:pPr marL="0" indent="0">
              <a:lnSpc>
                <a:spcPct val="120000"/>
              </a:lnSpc>
              <a:buNone/>
            </a:pPr>
            <a:r>
              <a:rPr lang="en-US" sz="1200" dirty="0">
                <a:solidFill>
                  <a:srgbClr val="3A3A42"/>
                </a:solidFill>
                <a:latin typeface="Calibri" pitchFamily="34" charset="0"/>
                <a:ea typeface="Calibri" pitchFamily="34" charset="-122"/>
                <a:cs typeface="Calibri" pitchFamily="34" charset="-120"/>
              </a:rPr>
              <a:t>Dividends kept growing even through earnings dips</a:t>
            </a:r>
            <a:endParaRPr lang="en-US" sz="1200" dirty="0"/>
          </a:p>
        </p:txBody>
      </p:sp>
      <p:sp>
        <p:nvSpPr>
          <p:cNvPr id="25" name="Text 23"/>
          <p:cNvSpPr/>
          <p:nvPr/>
        </p:nvSpPr>
        <p:spPr>
          <a:xfrm>
            <a:off x="548640" y="5989320"/>
            <a:ext cx="10881360" cy="548640"/>
          </a:xfrm>
          <a:prstGeom prst="rect">
            <a:avLst/>
          </a:prstGeom>
          <a:noFill/>
          <a:ln/>
        </p:spPr>
        <p:txBody>
          <a:bodyPr wrap="square" rtlCol="0" anchor="ctr"/>
          <a:lstStyle/>
          <a:p>
            <a:pPr marL="0" indent="0">
              <a:buNone/>
            </a:pPr>
            <a:r>
              <a:rPr lang="en-US" sz="1250" i="1" dirty="0">
                <a:solidFill>
                  <a:srgbClr val="6B6B76"/>
                </a:solidFill>
                <a:latin typeface="Calibri" pitchFamily="34" charset="0"/>
                <a:ea typeface="Calibri" pitchFamily="34" charset="-122"/>
                <a:cs typeface="Calibri" pitchFamily="34" charset="-120"/>
              </a:rPr>
              <a:t>In short: a mature, highly profitable operator that traded balance-sheet conservatism for shareholder returns — a deliberate strategy with real upside, and real risk.</a:t>
            </a:r>
            <a:endParaRPr lang="en-US" sz="1250" dirty="0"/>
          </a:p>
        </p:txBody>
      </p:sp>
      <p:sp>
        <p:nvSpPr>
          <p:cNvPr id="26" name="Text 24"/>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6B7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A291C"/>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777240"/>
            <a:ext cx="8229600" cy="548640"/>
          </a:xfrm>
          <a:prstGeom prst="rect">
            <a:avLst/>
          </a:prstGeom>
          <a:noFill/>
          <a:ln/>
        </p:spPr>
        <p:txBody>
          <a:bodyPr wrap="square" rtlCol="0" anchor="ctr"/>
          <a:lstStyle/>
          <a:p>
            <a:pPr marL="0" indent="0">
              <a:buNone/>
            </a:pPr>
            <a:r>
              <a:rPr lang="en-US" sz="3200" b="1" dirty="0">
                <a:solidFill>
                  <a:srgbClr val="1D1D24"/>
                </a:solidFill>
                <a:latin typeface="Cambria" pitchFamily="34" charset="0"/>
                <a:ea typeface="Cambria" pitchFamily="34" charset="-122"/>
                <a:cs typeface="Cambria" pitchFamily="34" charset="-120"/>
              </a:rPr>
              <a:t>Objective &amp; Dataset</a:t>
            </a:r>
            <a:endParaRPr lang="en-US" sz="3200" dirty="0"/>
          </a:p>
        </p:txBody>
      </p:sp>
      <p:sp>
        <p:nvSpPr>
          <p:cNvPr id="4" name="Text 2"/>
          <p:cNvSpPr/>
          <p:nvPr/>
        </p:nvSpPr>
        <p:spPr>
          <a:xfrm>
            <a:off x="548640" y="1417320"/>
            <a:ext cx="5943600" cy="1828800"/>
          </a:xfrm>
          <a:prstGeom prst="rect">
            <a:avLst/>
          </a:prstGeom>
          <a:noFill/>
          <a:ln/>
        </p:spPr>
        <p:txBody>
          <a:bodyPr wrap="square" rtlCol="0" anchor="ctr"/>
          <a:lstStyle/>
          <a:p>
            <a:pPr marL="0" indent="0">
              <a:lnSpc>
                <a:spcPct val="125000"/>
              </a:lnSpc>
              <a:buNone/>
            </a:pPr>
            <a:r>
              <a:rPr lang="en-US" sz="1350" dirty="0">
                <a:solidFill>
                  <a:srgbClr val="3A3A42"/>
                </a:solidFill>
                <a:latin typeface="Calibri" pitchFamily="34" charset="0"/>
                <a:ea typeface="Calibri" pitchFamily="34" charset="-122"/>
                <a:cs typeface="Calibri" pitchFamily="34" charset="-120"/>
              </a:rPr>
              <a:t>This project analyses McDonald's financial performance over a 21-year period to understand how the company grew, adapted, and restructured its capital. The analysis covers revenue and earnings trends, profitability drivers via DuPont decomposition, financial leverage and risk, and dividend sustainability — producing insights that inform strategic financial decisions.</a:t>
            </a:r>
            <a:endParaRPr lang="en-US" sz="1350" dirty="0"/>
          </a:p>
        </p:txBody>
      </p:sp>
      <p:sp>
        <p:nvSpPr>
          <p:cNvPr id="5" name="Shape 3"/>
          <p:cNvSpPr/>
          <p:nvPr/>
        </p:nvSpPr>
        <p:spPr>
          <a:xfrm>
            <a:off x="548640" y="3429000"/>
            <a:ext cx="1828800" cy="1371600"/>
          </a:xfrm>
          <a:prstGeom prst="roundRect">
            <a:avLst>
              <a:gd name="adj" fmla="val 5333"/>
            </a:avLst>
          </a:prstGeom>
          <a:solidFill>
            <a:srgbClr val="F2F2F2"/>
          </a:solidFill>
          <a:ln/>
        </p:spPr>
      </p:sp>
      <p:sp>
        <p:nvSpPr>
          <p:cNvPr id="6" name="Text 4"/>
          <p:cNvSpPr/>
          <p:nvPr/>
        </p:nvSpPr>
        <p:spPr>
          <a:xfrm>
            <a:off x="548640" y="3547872"/>
            <a:ext cx="1828800" cy="640080"/>
          </a:xfrm>
          <a:prstGeom prst="rect">
            <a:avLst/>
          </a:prstGeom>
          <a:noFill/>
          <a:ln/>
        </p:spPr>
        <p:txBody>
          <a:bodyPr wrap="square" rtlCol="0" anchor="ctr"/>
          <a:lstStyle/>
          <a:p>
            <a:pPr marL="0" indent="0" algn="ctr">
              <a:buNone/>
            </a:pPr>
            <a:r>
              <a:rPr lang="en-US" sz="3200" b="1" dirty="0">
                <a:solidFill>
                  <a:srgbClr val="DA291C"/>
                </a:solidFill>
                <a:latin typeface="Cambria" pitchFamily="34" charset="0"/>
                <a:ea typeface="Cambria" pitchFamily="34" charset="-122"/>
                <a:cs typeface="Cambria" pitchFamily="34" charset="-120"/>
              </a:rPr>
              <a:t>21</a:t>
            </a:r>
            <a:endParaRPr lang="en-US" sz="3200" dirty="0"/>
          </a:p>
        </p:txBody>
      </p:sp>
      <p:sp>
        <p:nvSpPr>
          <p:cNvPr id="7" name="Text 5"/>
          <p:cNvSpPr/>
          <p:nvPr/>
        </p:nvSpPr>
        <p:spPr>
          <a:xfrm>
            <a:off x="640080" y="4160520"/>
            <a:ext cx="1645920" cy="548640"/>
          </a:xfrm>
          <a:prstGeom prst="rect">
            <a:avLst/>
          </a:prstGeom>
          <a:noFill/>
          <a:ln/>
        </p:spPr>
        <p:txBody>
          <a:bodyPr wrap="square" rtlCol="0" anchor="ctr"/>
          <a:lstStyle/>
          <a:p>
            <a:pPr marL="0" indent="0" algn="ctr">
              <a:buNone/>
            </a:pPr>
            <a:r>
              <a:rPr lang="en-US" sz="1000" dirty="0">
                <a:solidFill>
                  <a:srgbClr val="6B6B76"/>
                </a:solidFill>
                <a:latin typeface="Calibri" pitchFamily="34" charset="0"/>
                <a:ea typeface="Calibri" pitchFamily="34" charset="-122"/>
                <a:cs typeface="Calibri" pitchFamily="34" charset="-120"/>
              </a:rPr>
              <a:t>years of annual</a:t>
            </a:r>
            <a:endParaRPr lang="en-US" sz="1000" dirty="0"/>
          </a:p>
          <a:p>
            <a:pPr marL="0" indent="0" algn="ctr">
              <a:buNone/>
            </a:pPr>
            <a:r>
              <a:rPr lang="en-US" sz="1000" dirty="0">
                <a:solidFill>
                  <a:srgbClr val="6B6B76"/>
                </a:solidFill>
                <a:latin typeface="Calibri" pitchFamily="34" charset="0"/>
                <a:ea typeface="Calibri" pitchFamily="34" charset="-122"/>
                <a:cs typeface="Calibri" pitchFamily="34" charset="-120"/>
              </a:rPr>
              <a:t>financial data</a:t>
            </a:r>
            <a:endParaRPr lang="en-US" sz="1000" dirty="0"/>
          </a:p>
        </p:txBody>
      </p:sp>
      <p:sp>
        <p:nvSpPr>
          <p:cNvPr id="8" name="Shape 6"/>
          <p:cNvSpPr/>
          <p:nvPr/>
        </p:nvSpPr>
        <p:spPr>
          <a:xfrm>
            <a:off x="2514600" y="3429000"/>
            <a:ext cx="1828800" cy="1371600"/>
          </a:xfrm>
          <a:prstGeom prst="roundRect">
            <a:avLst>
              <a:gd name="adj" fmla="val 5333"/>
            </a:avLst>
          </a:prstGeom>
          <a:solidFill>
            <a:srgbClr val="F2F2F2"/>
          </a:solidFill>
          <a:ln/>
        </p:spPr>
      </p:sp>
      <p:sp>
        <p:nvSpPr>
          <p:cNvPr id="9" name="Text 7"/>
          <p:cNvSpPr/>
          <p:nvPr/>
        </p:nvSpPr>
        <p:spPr>
          <a:xfrm>
            <a:off x="2514600" y="3547872"/>
            <a:ext cx="1828800" cy="640080"/>
          </a:xfrm>
          <a:prstGeom prst="rect">
            <a:avLst/>
          </a:prstGeom>
          <a:noFill/>
          <a:ln/>
        </p:spPr>
        <p:txBody>
          <a:bodyPr wrap="square" rtlCol="0" anchor="ctr"/>
          <a:lstStyle/>
          <a:p>
            <a:pPr marL="0" indent="0" algn="ctr">
              <a:buNone/>
            </a:pPr>
            <a:r>
              <a:rPr lang="en-US" sz="3200" b="1" dirty="0">
                <a:solidFill>
                  <a:srgbClr val="DA291C"/>
                </a:solidFill>
                <a:latin typeface="Cambria" pitchFamily="34" charset="0"/>
                <a:ea typeface="Cambria" pitchFamily="34" charset="-122"/>
                <a:cs typeface="Cambria" pitchFamily="34" charset="-120"/>
              </a:rPr>
              <a:t>16</a:t>
            </a:r>
            <a:endParaRPr lang="en-US" sz="3200" dirty="0"/>
          </a:p>
        </p:txBody>
      </p:sp>
      <p:sp>
        <p:nvSpPr>
          <p:cNvPr id="10" name="Text 8"/>
          <p:cNvSpPr/>
          <p:nvPr/>
        </p:nvSpPr>
        <p:spPr>
          <a:xfrm>
            <a:off x="2606040" y="4160520"/>
            <a:ext cx="1645920" cy="548640"/>
          </a:xfrm>
          <a:prstGeom prst="rect">
            <a:avLst/>
          </a:prstGeom>
          <a:noFill/>
          <a:ln/>
        </p:spPr>
        <p:txBody>
          <a:bodyPr wrap="square" rtlCol="0" anchor="ctr"/>
          <a:lstStyle/>
          <a:p>
            <a:pPr marL="0" indent="0" algn="ctr">
              <a:buNone/>
            </a:pPr>
            <a:r>
              <a:rPr lang="en-US" sz="1000" dirty="0">
                <a:solidFill>
                  <a:srgbClr val="6B6B76"/>
                </a:solidFill>
                <a:latin typeface="Calibri" pitchFamily="34" charset="0"/>
                <a:ea typeface="Calibri" pitchFamily="34" charset="-122"/>
                <a:cs typeface="Calibri" pitchFamily="34" charset="-120"/>
              </a:rPr>
              <a:t>original reported</a:t>
            </a:r>
            <a:endParaRPr lang="en-US" sz="1000" dirty="0"/>
          </a:p>
          <a:p>
            <a:pPr marL="0" indent="0" algn="ctr">
              <a:buNone/>
            </a:pPr>
            <a:r>
              <a:rPr lang="en-US" sz="1000" dirty="0">
                <a:solidFill>
                  <a:srgbClr val="6B6B76"/>
                </a:solidFill>
                <a:latin typeface="Calibri" pitchFamily="34" charset="0"/>
                <a:ea typeface="Calibri" pitchFamily="34" charset="-122"/>
                <a:cs typeface="Calibri" pitchFamily="34" charset="-120"/>
              </a:rPr>
              <a:t>metrics</a:t>
            </a:r>
            <a:endParaRPr lang="en-US" sz="1000" dirty="0"/>
          </a:p>
        </p:txBody>
      </p:sp>
      <p:sp>
        <p:nvSpPr>
          <p:cNvPr id="11" name="Shape 9"/>
          <p:cNvSpPr/>
          <p:nvPr/>
        </p:nvSpPr>
        <p:spPr>
          <a:xfrm>
            <a:off x="4480560" y="3429000"/>
            <a:ext cx="1828800" cy="1371600"/>
          </a:xfrm>
          <a:prstGeom prst="roundRect">
            <a:avLst>
              <a:gd name="adj" fmla="val 5333"/>
            </a:avLst>
          </a:prstGeom>
          <a:solidFill>
            <a:srgbClr val="F2F2F2"/>
          </a:solidFill>
          <a:ln/>
        </p:spPr>
      </p:sp>
      <p:sp>
        <p:nvSpPr>
          <p:cNvPr id="12" name="Text 10"/>
          <p:cNvSpPr/>
          <p:nvPr/>
        </p:nvSpPr>
        <p:spPr>
          <a:xfrm>
            <a:off x="4480560" y="3547872"/>
            <a:ext cx="1828800" cy="640080"/>
          </a:xfrm>
          <a:prstGeom prst="rect">
            <a:avLst/>
          </a:prstGeom>
          <a:noFill/>
          <a:ln/>
        </p:spPr>
        <p:txBody>
          <a:bodyPr wrap="square" rtlCol="0" anchor="ctr"/>
          <a:lstStyle/>
          <a:p>
            <a:pPr marL="0" indent="0" algn="ctr">
              <a:buNone/>
            </a:pPr>
            <a:r>
              <a:rPr lang="en-US" sz="3200" b="1" dirty="0">
                <a:solidFill>
                  <a:srgbClr val="DA291C"/>
                </a:solidFill>
                <a:latin typeface="Cambria" pitchFamily="34" charset="0"/>
                <a:ea typeface="Cambria" pitchFamily="34" charset="-122"/>
                <a:cs typeface="Cambria" pitchFamily="34" charset="-120"/>
              </a:rPr>
              <a:t>8</a:t>
            </a:r>
            <a:endParaRPr lang="en-US" sz="3200" dirty="0"/>
          </a:p>
        </p:txBody>
      </p:sp>
      <p:sp>
        <p:nvSpPr>
          <p:cNvPr id="13" name="Text 11"/>
          <p:cNvSpPr/>
          <p:nvPr/>
        </p:nvSpPr>
        <p:spPr>
          <a:xfrm>
            <a:off x="4572000" y="4160520"/>
            <a:ext cx="1645920" cy="548640"/>
          </a:xfrm>
          <a:prstGeom prst="rect">
            <a:avLst/>
          </a:prstGeom>
          <a:noFill/>
          <a:ln/>
        </p:spPr>
        <p:txBody>
          <a:bodyPr wrap="square" rtlCol="0" anchor="ctr"/>
          <a:lstStyle/>
          <a:p>
            <a:pPr marL="0" indent="0" algn="ctr">
              <a:buNone/>
            </a:pPr>
            <a:r>
              <a:rPr lang="en-US" sz="1000" dirty="0">
                <a:solidFill>
                  <a:srgbClr val="6B6B76"/>
                </a:solidFill>
                <a:latin typeface="Calibri" pitchFamily="34" charset="0"/>
                <a:ea typeface="Calibri" pitchFamily="34" charset="-122"/>
                <a:cs typeface="Calibri" pitchFamily="34" charset="-120"/>
              </a:rPr>
              <a:t>calculated ratios</a:t>
            </a:r>
            <a:endParaRPr lang="en-US" sz="1000" dirty="0"/>
          </a:p>
          <a:p>
            <a:pPr marL="0" indent="0" algn="ctr">
              <a:buNone/>
            </a:pPr>
            <a:r>
              <a:rPr lang="en-US" sz="1000" dirty="0">
                <a:solidFill>
                  <a:srgbClr val="6B6B76"/>
                </a:solidFill>
                <a:latin typeface="Calibri" pitchFamily="34" charset="0"/>
                <a:ea typeface="Calibri" pitchFamily="34" charset="-122"/>
                <a:cs typeface="Calibri" pitchFamily="34" charset="-120"/>
              </a:rPr>
              <a:t>&amp; decomposition vars</a:t>
            </a:r>
            <a:endParaRPr lang="en-US" sz="1000" dirty="0"/>
          </a:p>
        </p:txBody>
      </p:sp>
      <p:sp>
        <p:nvSpPr>
          <p:cNvPr id="14" name="Shape 12"/>
          <p:cNvSpPr/>
          <p:nvPr/>
        </p:nvSpPr>
        <p:spPr>
          <a:xfrm>
            <a:off x="6903720" y="1371600"/>
            <a:ext cx="4709160" cy="4892040"/>
          </a:xfrm>
          <a:prstGeom prst="rect">
            <a:avLst/>
          </a:prstGeom>
          <a:solidFill>
            <a:srgbClr val="1D1D24"/>
          </a:solidFill>
          <a:ln/>
        </p:spPr>
      </p:sp>
      <p:sp>
        <p:nvSpPr>
          <p:cNvPr id="15" name="Text 13"/>
          <p:cNvSpPr/>
          <p:nvPr/>
        </p:nvSpPr>
        <p:spPr>
          <a:xfrm>
            <a:off x="7223760" y="1572768"/>
            <a:ext cx="4114800" cy="320040"/>
          </a:xfrm>
          <a:prstGeom prst="rect">
            <a:avLst/>
          </a:prstGeom>
          <a:noFill/>
          <a:ln/>
        </p:spPr>
        <p:txBody>
          <a:bodyPr wrap="square" rtlCol="0" anchor="ctr"/>
          <a:lstStyle/>
          <a:p>
            <a:pPr marL="0" indent="0">
              <a:buNone/>
            </a:pPr>
            <a:r>
              <a:rPr lang="en-US" sz="1100" b="1" kern="0" spc="200" dirty="0">
                <a:solidFill>
                  <a:srgbClr val="FFC72C"/>
                </a:solidFill>
                <a:latin typeface="Calibri" pitchFamily="34" charset="0"/>
                <a:ea typeface="Calibri" pitchFamily="34" charset="-122"/>
                <a:cs typeface="Calibri" pitchFamily="34" charset="-120"/>
              </a:rPr>
              <a:t>DATASET COLUMNS</a:t>
            </a:r>
            <a:endParaRPr lang="en-US" sz="1100" dirty="0"/>
          </a:p>
        </p:txBody>
      </p:sp>
      <p:sp>
        <p:nvSpPr>
          <p:cNvPr id="16" name="Shape 14"/>
          <p:cNvSpPr/>
          <p:nvPr/>
        </p:nvSpPr>
        <p:spPr>
          <a:xfrm>
            <a:off x="7223760" y="2084832"/>
            <a:ext cx="73152" cy="73152"/>
          </a:xfrm>
          <a:prstGeom prst="ellipse">
            <a:avLst/>
          </a:prstGeom>
          <a:solidFill>
            <a:srgbClr val="FFC72C"/>
          </a:solidFill>
          <a:ln/>
        </p:spPr>
      </p:sp>
      <p:sp>
        <p:nvSpPr>
          <p:cNvPr id="17" name="Text 15"/>
          <p:cNvSpPr/>
          <p:nvPr/>
        </p:nvSpPr>
        <p:spPr>
          <a:xfrm>
            <a:off x="7452360" y="1965960"/>
            <a:ext cx="3931920" cy="45720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Year, Market Cap, Revenue, Earnings</a:t>
            </a:r>
            <a:endParaRPr lang="en-US" sz="1200" dirty="0"/>
          </a:p>
        </p:txBody>
      </p:sp>
      <p:sp>
        <p:nvSpPr>
          <p:cNvPr id="18" name="Shape 16"/>
          <p:cNvSpPr/>
          <p:nvPr/>
        </p:nvSpPr>
        <p:spPr>
          <a:xfrm>
            <a:off x="7223760" y="2706624"/>
            <a:ext cx="73152" cy="73152"/>
          </a:xfrm>
          <a:prstGeom prst="ellipse">
            <a:avLst/>
          </a:prstGeom>
          <a:solidFill>
            <a:srgbClr val="FFC72C"/>
          </a:solidFill>
          <a:ln/>
        </p:spPr>
      </p:sp>
      <p:sp>
        <p:nvSpPr>
          <p:cNvPr id="19" name="Text 17"/>
          <p:cNvSpPr/>
          <p:nvPr/>
        </p:nvSpPr>
        <p:spPr>
          <a:xfrm>
            <a:off x="7452360" y="2587752"/>
            <a:ext cx="3931920" cy="45720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P/E, P/S, P/B ratios</a:t>
            </a:r>
            <a:endParaRPr lang="en-US" sz="1200" dirty="0"/>
          </a:p>
        </p:txBody>
      </p:sp>
      <p:sp>
        <p:nvSpPr>
          <p:cNvPr id="20" name="Shape 18"/>
          <p:cNvSpPr/>
          <p:nvPr/>
        </p:nvSpPr>
        <p:spPr>
          <a:xfrm>
            <a:off x="7223760" y="3328416"/>
            <a:ext cx="73152" cy="73152"/>
          </a:xfrm>
          <a:prstGeom prst="ellipse">
            <a:avLst/>
          </a:prstGeom>
          <a:solidFill>
            <a:srgbClr val="FFC72C"/>
          </a:solidFill>
          <a:ln/>
        </p:spPr>
      </p:sp>
      <p:sp>
        <p:nvSpPr>
          <p:cNvPr id="21" name="Text 19"/>
          <p:cNvSpPr/>
          <p:nvPr/>
        </p:nvSpPr>
        <p:spPr>
          <a:xfrm>
            <a:off x="7452360" y="3209544"/>
            <a:ext cx="3931920" cy="45720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Operating Margin, EPS, Shares Outstanding</a:t>
            </a:r>
            <a:endParaRPr lang="en-US" sz="1200" dirty="0"/>
          </a:p>
        </p:txBody>
      </p:sp>
      <p:sp>
        <p:nvSpPr>
          <p:cNvPr id="22" name="Shape 20"/>
          <p:cNvSpPr/>
          <p:nvPr/>
        </p:nvSpPr>
        <p:spPr>
          <a:xfrm>
            <a:off x="7223760" y="3950208"/>
            <a:ext cx="73152" cy="73152"/>
          </a:xfrm>
          <a:prstGeom prst="ellipse">
            <a:avLst/>
          </a:prstGeom>
          <a:solidFill>
            <a:srgbClr val="FFC72C"/>
          </a:solidFill>
          <a:ln/>
        </p:spPr>
      </p:sp>
      <p:sp>
        <p:nvSpPr>
          <p:cNvPr id="23" name="Text 21"/>
          <p:cNvSpPr/>
          <p:nvPr/>
        </p:nvSpPr>
        <p:spPr>
          <a:xfrm>
            <a:off x="7452360" y="3831336"/>
            <a:ext cx="3931920" cy="45720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Cash on Hand, Dividend Yield, Dividend/Share</a:t>
            </a:r>
            <a:endParaRPr lang="en-US" sz="1200" dirty="0"/>
          </a:p>
        </p:txBody>
      </p:sp>
      <p:sp>
        <p:nvSpPr>
          <p:cNvPr id="24" name="Shape 22"/>
          <p:cNvSpPr/>
          <p:nvPr/>
        </p:nvSpPr>
        <p:spPr>
          <a:xfrm>
            <a:off x="7223760" y="4572000"/>
            <a:ext cx="73152" cy="73152"/>
          </a:xfrm>
          <a:prstGeom prst="ellipse">
            <a:avLst/>
          </a:prstGeom>
          <a:solidFill>
            <a:srgbClr val="FFC72C"/>
          </a:solidFill>
          <a:ln/>
        </p:spPr>
      </p:sp>
      <p:sp>
        <p:nvSpPr>
          <p:cNvPr id="25" name="Text 23"/>
          <p:cNvSpPr/>
          <p:nvPr/>
        </p:nvSpPr>
        <p:spPr>
          <a:xfrm>
            <a:off x="7452360" y="4453128"/>
            <a:ext cx="3931920" cy="45720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Net Assets, Total Assets, Total Debt, Total Liabilities</a:t>
            </a:r>
            <a:endParaRPr lang="en-US" sz="1200" dirty="0"/>
          </a:p>
        </p:txBody>
      </p:sp>
      <p:sp>
        <p:nvSpPr>
          <p:cNvPr id="26" name="Text 24"/>
          <p:cNvSpPr/>
          <p:nvPr/>
        </p:nvSpPr>
        <p:spPr>
          <a:xfrm>
            <a:off x="7223760" y="5806440"/>
            <a:ext cx="4114800" cy="320040"/>
          </a:xfrm>
          <a:prstGeom prst="rect">
            <a:avLst/>
          </a:prstGeom>
          <a:noFill/>
          <a:ln/>
        </p:spPr>
        <p:txBody>
          <a:bodyPr wrap="square" rtlCol="0" anchor="ctr"/>
          <a:lstStyle/>
          <a:p>
            <a:pPr marL="0" indent="0">
              <a:buNone/>
            </a:pPr>
            <a:r>
              <a:rPr lang="en-US" sz="950" i="1" dirty="0">
                <a:solidFill>
                  <a:srgbClr val="9A9AA5"/>
                </a:solidFill>
                <a:latin typeface="Calibri" pitchFamily="34" charset="0"/>
                <a:ea typeface="Calibri" pitchFamily="34" charset="-122"/>
                <a:cs typeface="Calibri" pitchFamily="34" charset="-120"/>
              </a:rPr>
              <a:t>Source: Kaggle — mcdonalds-financial-statements-2002-2022</a:t>
            </a:r>
            <a:endParaRPr lang="en-US" sz="950" dirty="0"/>
          </a:p>
        </p:txBody>
      </p:sp>
      <p:sp>
        <p:nvSpPr>
          <p:cNvPr id="27" name="Text 25"/>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6B7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A291C"/>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777240"/>
            <a:ext cx="10058400" cy="548640"/>
          </a:xfrm>
          <a:prstGeom prst="rect">
            <a:avLst/>
          </a:prstGeom>
          <a:noFill/>
          <a:ln/>
        </p:spPr>
        <p:txBody>
          <a:bodyPr wrap="square" rtlCol="0" anchor="ctr"/>
          <a:lstStyle/>
          <a:p>
            <a:pPr marL="0" indent="0">
              <a:buNone/>
            </a:pPr>
            <a:r>
              <a:rPr lang="en-US" sz="3200" b="1" dirty="0">
                <a:solidFill>
                  <a:srgbClr val="1D1D24"/>
                </a:solidFill>
                <a:latin typeface="Cambria" pitchFamily="34" charset="0"/>
                <a:ea typeface="Cambria" pitchFamily="34" charset="-122"/>
                <a:cs typeface="Cambria" pitchFamily="34" charset="-120"/>
              </a:rPr>
              <a:t>Data Preparation &amp; Dashboard Logic</a:t>
            </a:r>
            <a:endParaRPr lang="en-US" sz="3200" dirty="0"/>
          </a:p>
        </p:txBody>
      </p:sp>
      <p:sp>
        <p:nvSpPr>
          <p:cNvPr id="4" name="Shape 2"/>
          <p:cNvSpPr/>
          <p:nvPr/>
        </p:nvSpPr>
        <p:spPr>
          <a:xfrm>
            <a:off x="548640" y="1600200"/>
            <a:ext cx="5257800" cy="2057400"/>
          </a:xfrm>
          <a:prstGeom prst="roundRect">
            <a:avLst>
              <a:gd name="adj" fmla="val 2667"/>
            </a:avLst>
          </a:prstGeom>
          <a:solidFill>
            <a:srgbClr val="F2F2F2"/>
          </a:solidFill>
          <a:ln/>
        </p:spPr>
      </p:sp>
      <p:sp>
        <p:nvSpPr>
          <p:cNvPr id="5" name="Shape 3"/>
          <p:cNvSpPr/>
          <p:nvPr/>
        </p:nvSpPr>
        <p:spPr>
          <a:xfrm>
            <a:off x="822960" y="1874520"/>
            <a:ext cx="457200" cy="457200"/>
          </a:xfrm>
          <a:prstGeom prst="roundRect">
            <a:avLst>
              <a:gd name="adj" fmla="val 50000"/>
            </a:avLst>
          </a:prstGeom>
          <a:solidFill>
            <a:srgbClr val="1D1D24"/>
          </a:solidFill>
          <a:ln/>
        </p:spPr>
      </p:sp>
      <p:sp>
        <p:nvSpPr>
          <p:cNvPr id="6" name="Text 4"/>
          <p:cNvSpPr/>
          <p:nvPr/>
        </p:nvSpPr>
        <p:spPr>
          <a:xfrm>
            <a:off x="822960" y="1874520"/>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63040" y="1856232"/>
            <a:ext cx="4114800" cy="365760"/>
          </a:xfrm>
          <a:prstGeom prst="rect">
            <a:avLst/>
          </a:prstGeom>
          <a:noFill/>
          <a:ln/>
        </p:spPr>
        <p:txBody>
          <a:bodyPr wrap="square" rtlCol="0" anchor="ctr"/>
          <a:lstStyle/>
          <a:p>
            <a:pPr marL="0" indent="0">
              <a:buNone/>
            </a:pPr>
            <a:r>
              <a:rPr lang="en-US" sz="1500" b="1" dirty="0">
                <a:solidFill>
                  <a:srgbClr val="1D1D24"/>
                </a:solidFill>
                <a:latin typeface="Cambria" pitchFamily="34" charset="0"/>
                <a:ea typeface="Cambria" pitchFamily="34" charset="-122"/>
                <a:cs typeface="Cambria" pitchFamily="34" charset="-120"/>
              </a:rPr>
              <a:t>Import &amp; Validation</a:t>
            </a:r>
            <a:endParaRPr lang="en-US" sz="1500" dirty="0"/>
          </a:p>
        </p:txBody>
      </p:sp>
      <p:sp>
        <p:nvSpPr>
          <p:cNvPr id="8" name="Text 6"/>
          <p:cNvSpPr/>
          <p:nvPr/>
        </p:nvSpPr>
        <p:spPr>
          <a:xfrm>
            <a:off x="1463040" y="2258568"/>
            <a:ext cx="4114800" cy="1280160"/>
          </a:xfrm>
          <a:prstGeom prst="rect">
            <a:avLst/>
          </a:prstGeom>
          <a:noFill/>
          <a:ln/>
        </p:spPr>
        <p:txBody>
          <a:bodyPr wrap="square" rtlCol="0" anchor="ctr"/>
          <a:lstStyle/>
          <a:p>
            <a:pPr marL="0" indent="0">
              <a:lnSpc>
                <a:spcPct val="120000"/>
              </a:lnSpc>
              <a:buNone/>
            </a:pPr>
            <a:r>
              <a:rPr lang="en-US" sz="1150" dirty="0">
                <a:solidFill>
                  <a:srgbClr val="3A3A42"/>
                </a:solidFill>
                <a:latin typeface="Calibri" pitchFamily="34" charset="0"/>
                <a:ea typeface="Calibri" pitchFamily="34" charset="-122"/>
                <a:cs typeface="Calibri" pitchFamily="34" charset="-120"/>
              </a:rPr>
              <a:t>Data imported and cleaned with Power Query; no missing values detected. All dollar metrics standardized to $B; ratios and percentages treated consistently.</a:t>
            </a:r>
            <a:endParaRPr lang="en-US" sz="1150" dirty="0"/>
          </a:p>
        </p:txBody>
      </p:sp>
      <p:sp>
        <p:nvSpPr>
          <p:cNvPr id="9" name="Shape 7"/>
          <p:cNvSpPr/>
          <p:nvPr/>
        </p:nvSpPr>
        <p:spPr>
          <a:xfrm>
            <a:off x="6126480" y="1600200"/>
            <a:ext cx="5257800" cy="2057400"/>
          </a:xfrm>
          <a:prstGeom prst="roundRect">
            <a:avLst>
              <a:gd name="adj" fmla="val 2667"/>
            </a:avLst>
          </a:prstGeom>
          <a:solidFill>
            <a:srgbClr val="F2F2F2"/>
          </a:solidFill>
          <a:ln/>
        </p:spPr>
      </p:sp>
      <p:sp>
        <p:nvSpPr>
          <p:cNvPr id="10" name="Shape 8"/>
          <p:cNvSpPr/>
          <p:nvPr/>
        </p:nvSpPr>
        <p:spPr>
          <a:xfrm>
            <a:off x="6400800" y="1874520"/>
            <a:ext cx="457200" cy="457200"/>
          </a:xfrm>
          <a:prstGeom prst="roundRect">
            <a:avLst>
              <a:gd name="adj" fmla="val 50000"/>
            </a:avLst>
          </a:prstGeom>
          <a:solidFill>
            <a:srgbClr val="1D1D24"/>
          </a:solidFill>
          <a:ln/>
        </p:spPr>
      </p:sp>
      <p:sp>
        <p:nvSpPr>
          <p:cNvPr id="11" name="Text 9"/>
          <p:cNvSpPr/>
          <p:nvPr/>
        </p:nvSpPr>
        <p:spPr>
          <a:xfrm>
            <a:off x="6400800" y="1874520"/>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040880" y="1856232"/>
            <a:ext cx="4114800" cy="365760"/>
          </a:xfrm>
          <a:prstGeom prst="rect">
            <a:avLst/>
          </a:prstGeom>
          <a:noFill/>
          <a:ln/>
        </p:spPr>
        <p:txBody>
          <a:bodyPr wrap="square" rtlCol="0" anchor="ctr"/>
          <a:lstStyle/>
          <a:p>
            <a:pPr marL="0" indent="0">
              <a:buNone/>
            </a:pPr>
            <a:r>
              <a:rPr lang="en-US" sz="1500" b="1" dirty="0">
                <a:solidFill>
                  <a:srgbClr val="1D1D24"/>
                </a:solidFill>
                <a:latin typeface="Cambria" pitchFamily="34" charset="0"/>
                <a:ea typeface="Cambria" pitchFamily="34" charset="-122"/>
                <a:cs typeface="Cambria" pitchFamily="34" charset="-120"/>
              </a:rPr>
              <a:t>Calculated Metrics</a:t>
            </a:r>
            <a:endParaRPr lang="en-US" sz="1500" dirty="0"/>
          </a:p>
        </p:txBody>
      </p:sp>
      <p:sp>
        <p:nvSpPr>
          <p:cNvPr id="13" name="Text 11"/>
          <p:cNvSpPr/>
          <p:nvPr/>
        </p:nvSpPr>
        <p:spPr>
          <a:xfrm>
            <a:off x="7040880" y="2258568"/>
            <a:ext cx="4114800" cy="1280160"/>
          </a:xfrm>
          <a:prstGeom prst="rect">
            <a:avLst/>
          </a:prstGeom>
          <a:noFill/>
          <a:ln/>
        </p:spPr>
        <p:txBody>
          <a:bodyPr wrap="square" rtlCol="0" anchor="ctr"/>
          <a:lstStyle/>
          <a:p>
            <a:pPr marL="0" indent="0">
              <a:lnSpc>
                <a:spcPct val="120000"/>
              </a:lnSpc>
              <a:buNone/>
            </a:pPr>
            <a:r>
              <a:rPr lang="en-US" sz="1150" dirty="0">
                <a:solidFill>
                  <a:srgbClr val="3A3A42"/>
                </a:solidFill>
                <a:latin typeface="Calibri" pitchFamily="34" charset="0"/>
                <a:ea typeface="Calibri" pitchFamily="34" charset="-122"/>
                <a:cs typeface="Calibri" pitchFamily="34" charset="-120"/>
              </a:rPr>
              <a:t>Eight ratios derived from source data: ROE, ROA, Debt-to-Equity, Debt-to-Asset, Equity Multiplier, Asset Turnover, and Pay-out Ratio.</a:t>
            </a:r>
            <a:endParaRPr lang="en-US" sz="1150" dirty="0"/>
          </a:p>
        </p:txBody>
      </p:sp>
      <p:sp>
        <p:nvSpPr>
          <p:cNvPr id="14" name="Shape 12"/>
          <p:cNvSpPr/>
          <p:nvPr/>
        </p:nvSpPr>
        <p:spPr>
          <a:xfrm>
            <a:off x="548640" y="3931920"/>
            <a:ext cx="5257800" cy="2057400"/>
          </a:xfrm>
          <a:prstGeom prst="roundRect">
            <a:avLst>
              <a:gd name="adj" fmla="val 2667"/>
            </a:avLst>
          </a:prstGeom>
          <a:solidFill>
            <a:srgbClr val="F2F2F2"/>
          </a:solidFill>
          <a:ln/>
        </p:spPr>
      </p:sp>
      <p:sp>
        <p:nvSpPr>
          <p:cNvPr id="15" name="Shape 13"/>
          <p:cNvSpPr/>
          <p:nvPr/>
        </p:nvSpPr>
        <p:spPr>
          <a:xfrm>
            <a:off x="822960" y="4206240"/>
            <a:ext cx="457200" cy="457200"/>
          </a:xfrm>
          <a:prstGeom prst="roundRect">
            <a:avLst>
              <a:gd name="adj" fmla="val 50000"/>
            </a:avLst>
          </a:prstGeom>
          <a:solidFill>
            <a:srgbClr val="1D1D24"/>
          </a:solidFill>
          <a:ln/>
        </p:spPr>
      </p:sp>
      <p:sp>
        <p:nvSpPr>
          <p:cNvPr id="16" name="Text 14"/>
          <p:cNvSpPr/>
          <p:nvPr/>
        </p:nvSpPr>
        <p:spPr>
          <a:xfrm>
            <a:off x="822960" y="4206240"/>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463040" y="4187952"/>
            <a:ext cx="4114800" cy="365760"/>
          </a:xfrm>
          <a:prstGeom prst="rect">
            <a:avLst/>
          </a:prstGeom>
          <a:noFill/>
          <a:ln/>
        </p:spPr>
        <p:txBody>
          <a:bodyPr wrap="square" rtlCol="0" anchor="ctr"/>
          <a:lstStyle/>
          <a:p>
            <a:pPr marL="0" indent="0">
              <a:buNone/>
            </a:pPr>
            <a:r>
              <a:rPr lang="en-US" sz="1500" b="1" dirty="0">
                <a:solidFill>
                  <a:srgbClr val="1D1D24"/>
                </a:solidFill>
                <a:latin typeface="Cambria" pitchFamily="34" charset="0"/>
                <a:ea typeface="Cambria" pitchFamily="34" charset="-122"/>
                <a:cs typeface="Cambria" pitchFamily="34" charset="-120"/>
              </a:rPr>
              <a:t>Chart Scaling</a:t>
            </a:r>
            <a:endParaRPr lang="en-US" sz="1500" dirty="0"/>
          </a:p>
        </p:txBody>
      </p:sp>
      <p:sp>
        <p:nvSpPr>
          <p:cNvPr id="18" name="Text 16"/>
          <p:cNvSpPr/>
          <p:nvPr/>
        </p:nvSpPr>
        <p:spPr>
          <a:xfrm>
            <a:off x="1463040" y="4590288"/>
            <a:ext cx="4114800" cy="1280160"/>
          </a:xfrm>
          <a:prstGeom prst="rect">
            <a:avLst/>
          </a:prstGeom>
          <a:noFill/>
          <a:ln/>
        </p:spPr>
        <p:txBody>
          <a:bodyPr wrap="square" rtlCol="0" anchor="ctr"/>
          <a:lstStyle/>
          <a:p>
            <a:pPr marL="0" indent="0">
              <a:lnSpc>
                <a:spcPct val="120000"/>
              </a:lnSpc>
              <a:buNone/>
            </a:pPr>
            <a:r>
              <a:rPr lang="en-US" sz="1150" dirty="0">
                <a:solidFill>
                  <a:srgbClr val="3A3A42"/>
                </a:solidFill>
                <a:latin typeface="Calibri" pitchFamily="34" charset="0"/>
                <a:ea typeface="Calibri" pitchFamily="34" charset="-122"/>
                <a:cs typeface="Calibri" pitchFamily="34" charset="-120"/>
              </a:rPr>
              <a:t>Net-Assets-based metrics (ROE, D/E, Equity Multiplier) charted only through 2015, after which equity turned negative. Other metrics span the full 2002–2022 range.</a:t>
            </a:r>
            <a:endParaRPr lang="en-US" sz="1150" dirty="0"/>
          </a:p>
        </p:txBody>
      </p:sp>
      <p:sp>
        <p:nvSpPr>
          <p:cNvPr id="19" name="Shape 17"/>
          <p:cNvSpPr/>
          <p:nvPr/>
        </p:nvSpPr>
        <p:spPr>
          <a:xfrm>
            <a:off x="6126480" y="3931920"/>
            <a:ext cx="5257800" cy="2057400"/>
          </a:xfrm>
          <a:prstGeom prst="roundRect">
            <a:avLst>
              <a:gd name="adj" fmla="val 2667"/>
            </a:avLst>
          </a:prstGeom>
          <a:solidFill>
            <a:srgbClr val="F2F2F2"/>
          </a:solidFill>
          <a:ln/>
        </p:spPr>
      </p:sp>
      <p:sp>
        <p:nvSpPr>
          <p:cNvPr id="20" name="Shape 18"/>
          <p:cNvSpPr/>
          <p:nvPr/>
        </p:nvSpPr>
        <p:spPr>
          <a:xfrm>
            <a:off x="6400800" y="4206240"/>
            <a:ext cx="457200" cy="457200"/>
          </a:xfrm>
          <a:prstGeom prst="roundRect">
            <a:avLst>
              <a:gd name="adj" fmla="val 50000"/>
            </a:avLst>
          </a:prstGeom>
          <a:solidFill>
            <a:srgbClr val="1D1D24"/>
          </a:solidFill>
          <a:ln/>
        </p:spPr>
      </p:sp>
      <p:sp>
        <p:nvSpPr>
          <p:cNvPr id="21" name="Text 19"/>
          <p:cNvSpPr/>
          <p:nvPr/>
        </p:nvSpPr>
        <p:spPr>
          <a:xfrm>
            <a:off x="6400800" y="4206240"/>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040880" y="4187952"/>
            <a:ext cx="4114800" cy="365760"/>
          </a:xfrm>
          <a:prstGeom prst="rect">
            <a:avLst/>
          </a:prstGeom>
          <a:noFill/>
          <a:ln/>
        </p:spPr>
        <p:txBody>
          <a:bodyPr wrap="square" rtlCol="0" anchor="ctr"/>
          <a:lstStyle/>
          <a:p>
            <a:pPr marL="0" indent="0">
              <a:buNone/>
            </a:pPr>
            <a:r>
              <a:rPr lang="en-US" sz="1500" b="1" dirty="0">
                <a:solidFill>
                  <a:srgbClr val="1D1D24"/>
                </a:solidFill>
                <a:latin typeface="Cambria" pitchFamily="34" charset="0"/>
                <a:ea typeface="Cambria" pitchFamily="34" charset="-122"/>
                <a:cs typeface="Cambria" pitchFamily="34" charset="-120"/>
              </a:rPr>
              <a:t>Dashboard Logic (VBA)</a:t>
            </a:r>
            <a:endParaRPr lang="en-US" sz="1500" dirty="0"/>
          </a:p>
        </p:txBody>
      </p:sp>
      <p:sp>
        <p:nvSpPr>
          <p:cNvPr id="23" name="Text 21"/>
          <p:cNvSpPr/>
          <p:nvPr/>
        </p:nvSpPr>
        <p:spPr>
          <a:xfrm>
            <a:off x="7040880" y="4590288"/>
            <a:ext cx="4114800" cy="1280160"/>
          </a:xfrm>
          <a:prstGeom prst="rect">
            <a:avLst/>
          </a:prstGeom>
          <a:noFill/>
          <a:ln/>
        </p:spPr>
        <p:txBody>
          <a:bodyPr wrap="square" rtlCol="0" anchor="ctr"/>
          <a:lstStyle/>
          <a:p>
            <a:pPr marL="0" indent="0">
              <a:lnSpc>
                <a:spcPct val="120000"/>
              </a:lnSpc>
              <a:buNone/>
            </a:pPr>
            <a:r>
              <a:rPr lang="en-US" sz="1150" dirty="0">
                <a:solidFill>
                  <a:srgbClr val="3A3A42"/>
                </a:solidFill>
                <a:latin typeface="Calibri" pitchFamily="34" charset="0"/>
                <a:ea typeface="Calibri" pitchFamily="34" charset="-122"/>
                <a:cs typeface="Calibri" pitchFamily="34" charset="-120"/>
              </a:rPr>
              <a:t>A VBA macro constrains the year slicer to a single selection, keeping every KPI card and summary box on the dashboard consistent.</a:t>
            </a:r>
            <a:endParaRPr lang="en-US" sz="1150" dirty="0"/>
          </a:p>
        </p:txBody>
      </p:sp>
      <p:sp>
        <p:nvSpPr>
          <p:cNvPr id="24" name="Text 22"/>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6B7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A291C"/>
                </a:solidFill>
                <a:latin typeface="Calibri" pitchFamily="34" charset="0"/>
                <a:ea typeface="Calibri" pitchFamily="34" charset="-122"/>
                <a:cs typeface="Calibri" pitchFamily="34" charset="-120"/>
              </a:rPr>
              <a:t>FINDING 01</a:t>
            </a:r>
            <a:endParaRPr lang="en-US" sz="1200" dirty="0"/>
          </a:p>
        </p:txBody>
      </p:sp>
      <p:sp>
        <p:nvSpPr>
          <p:cNvPr id="3" name="Text 1"/>
          <p:cNvSpPr/>
          <p:nvPr/>
        </p:nvSpPr>
        <p:spPr>
          <a:xfrm>
            <a:off x="548640" y="777240"/>
            <a:ext cx="10515600" cy="548640"/>
          </a:xfrm>
          <a:prstGeom prst="rect">
            <a:avLst/>
          </a:prstGeom>
          <a:noFill/>
          <a:ln/>
        </p:spPr>
        <p:txBody>
          <a:bodyPr wrap="square" rtlCol="0" anchor="ctr"/>
          <a:lstStyle/>
          <a:p>
            <a:pPr marL="0" indent="0">
              <a:buNone/>
            </a:pPr>
            <a:r>
              <a:rPr lang="en-US" sz="2800" b="1" dirty="0">
                <a:solidFill>
                  <a:srgbClr val="1D1D24"/>
                </a:solidFill>
                <a:latin typeface="Cambria" pitchFamily="34" charset="0"/>
                <a:ea typeface="Cambria" pitchFamily="34" charset="-122"/>
                <a:cs typeface="Cambria" pitchFamily="34" charset="-120"/>
              </a:rPr>
              <a:t>Revenue Peaked in 2013 — Earnings Kept Climbing</a:t>
            </a:r>
            <a:endParaRPr lang="en-US" sz="2800" dirty="0"/>
          </a:p>
        </p:txBody>
      </p:sp>
      <p:graphicFrame>
        <p:nvGraphicFramePr>
          <p:cNvPr id="4" name="Chart 0"/>
          <p:cNvGraphicFramePr/>
          <p:nvPr/>
        </p:nvGraphicFramePr>
        <p:xfrm>
          <a:off x="548640" y="1508760"/>
          <a:ext cx="72237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001000" y="1508760"/>
            <a:ext cx="3611880" cy="4572000"/>
          </a:xfrm>
          <a:prstGeom prst="rect">
            <a:avLst/>
          </a:prstGeom>
          <a:solidFill>
            <a:srgbClr val="1D1D24"/>
          </a:solidFill>
          <a:ln/>
        </p:spPr>
      </p:sp>
      <p:sp>
        <p:nvSpPr>
          <p:cNvPr id="6" name="Text 3"/>
          <p:cNvSpPr/>
          <p:nvPr/>
        </p:nvSpPr>
        <p:spPr>
          <a:xfrm>
            <a:off x="8275320" y="1737360"/>
            <a:ext cx="3108960" cy="274320"/>
          </a:xfrm>
          <a:prstGeom prst="rect">
            <a:avLst/>
          </a:prstGeom>
          <a:noFill/>
          <a:ln/>
        </p:spPr>
        <p:txBody>
          <a:bodyPr wrap="square" rtlCol="0" anchor="ctr"/>
          <a:lstStyle/>
          <a:p>
            <a:pPr marL="0" indent="0">
              <a:buNone/>
            </a:pPr>
            <a:r>
              <a:rPr lang="en-US" sz="1100" b="1" kern="0" spc="200" dirty="0">
                <a:solidFill>
                  <a:srgbClr val="FFC72C"/>
                </a:solidFill>
                <a:latin typeface="Calibri" pitchFamily="34" charset="0"/>
                <a:ea typeface="Calibri" pitchFamily="34" charset="-122"/>
                <a:cs typeface="Calibri" pitchFamily="34" charset="-120"/>
              </a:rPr>
              <a:t>KEY TAKEAWAY</a:t>
            </a:r>
            <a:endParaRPr lang="en-US" sz="1100" dirty="0"/>
          </a:p>
        </p:txBody>
      </p:sp>
      <p:sp>
        <p:nvSpPr>
          <p:cNvPr id="7" name="Text 4"/>
          <p:cNvSpPr/>
          <p:nvPr/>
        </p:nvSpPr>
        <p:spPr>
          <a:xfrm>
            <a:off x="8275320" y="2103120"/>
            <a:ext cx="3108960" cy="1005840"/>
          </a:xfrm>
          <a:prstGeom prst="rect">
            <a:avLst/>
          </a:prstGeom>
          <a:noFill/>
          <a:ln/>
        </p:spPr>
        <p:txBody>
          <a:bodyPr wrap="square" rtlCol="0" anchor="ctr"/>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Revenue rose from $15.4B (2002) to a peak of $28.1B (2013), then eased to $23.2B by 2022.</a:t>
            </a:r>
            <a:endParaRPr lang="en-US" sz="1250" dirty="0"/>
          </a:p>
        </p:txBody>
      </p:sp>
      <p:sp>
        <p:nvSpPr>
          <p:cNvPr id="8" name="Text 5"/>
          <p:cNvSpPr/>
          <p:nvPr/>
        </p:nvSpPr>
        <p:spPr>
          <a:xfrm>
            <a:off x="8275320" y="3246120"/>
            <a:ext cx="3108960" cy="1005840"/>
          </a:xfrm>
          <a:prstGeom prst="rect">
            <a:avLst/>
          </a:prstGeom>
          <a:noFill/>
          <a:ln/>
        </p:spPr>
        <p:txBody>
          <a:bodyPr wrap="square" rtlCol="0" anchor="ctr"/>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Earnings grew faster — from $1.66B to roughly $8B by 2015 — and then held stable even as revenue fluctuated.</a:t>
            </a:r>
            <a:endParaRPr lang="en-US" sz="1250" dirty="0"/>
          </a:p>
        </p:txBody>
      </p:sp>
      <p:sp>
        <p:nvSpPr>
          <p:cNvPr id="9" name="Text 6"/>
          <p:cNvSpPr/>
          <p:nvPr/>
        </p:nvSpPr>
        <p:spPr>
          <a:xfrm>
            <a:off x="8275320" y="4389120"/>
            <a:ext cx="3108960" cy="1097280"/>
          </a:xfrm>
          <a:prstGeom prst="rect">
            <a:avLst/>
          </a:prstGeom>
          <a:noFill/>
          <a:ln/>
        </p:spPr>
        <p:txBody>
          <a:bodyPr wrap="square" rtlCol="0" anchor="ctr"/>
          <a:lstStyle/>
          <a:p>
            <a:pPr marL="0" indent="0">
              <a:lnSpc>
                <a:spcPct val="125000"/>
              </a:lnSpc>
              <a:buNone/>
            </a:pPr>
            <a:r>
              <a:rPr lang="en-US" sz="1250" i="1" dirty="0">
                <a:solidFill>
                  <a:srgbClr val="FFC72C"/>
                </a:solidFill>
                <a:latin typeface="Calibri" pitchFamily="34" charset="0"/>
                <a:ea typeface="Calibri" pitchFamily="34" charset="-122"/>
                <a:cs typeface="Calibri" pitchFamily="34" charset="-120"/>
              </a:rPr>
              <a:t>The divergence signals efficiency gains and margin discipline, not just top-line growth.</a:t>
            </a:r>
            <a:endParaRPr lang="en-US" sz="1250" dirty="0"/>
          </a:p>
        </p:txBody>
      </p:sp>
      <p:sp>
        <p:nvSpPr>
          <p:cNvPr id="10" name="Text 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6B7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A291C"/>
                </a:solidFill>
                <a:latin typeface="Calibri" pitchFamily="34" charset="0"/>
                <a:ea typeface="Calibri" pitchFamily="34" charset="-122"/>
                <a:cs typeface="Calibri" pitchFamily="34" charset="-120"/>
              </a:rPr>
              <a:t>FINDING 02 · DUPONT ANALYSIS</a:t>
            </a:r>
            <a:endParaRPr lang="en-US" sz="1200" dirty="0"/>
          </a:p>
        </p:txBody>
      </p:sp>
      <p:sp>
        <p:nvSpPr>
          <p:cNvPr id="3" name="Text 1"/>
          <p:cNvSpPr/>
          <p:nvPr/>
        </p:nvSpPr>
        <p:spPr>
          <a:xfrm>
            <a:off x="548640" y="777240"/>
            <a:ext cx="10515600" cy="548640"/>
          </a:xfrm>
          <a:prstGeom prst="rect">
            <a:avLst/>
          </a:prstGeom>
          <a:noFill/>
          <a:ln/>
        </p:spPr>
        <p:txBody>
          <a:bodyPr wrap="square" rtlCol="0" anchor="ctr"/>
          <a:lstStyle/>
          <a:p>
            <a:pPr marL="0" indent="0">
              <a:buNone/>
            </a:pPr>
            <a:r>
              <a:rPr lang="en-US" sz="2800" b="1" dirty="0">
                <a:solidFill>
                  <a:srgbClr val="1D1D24"/>
                </a:solidFill>
                <a:latin typeface="Cambria" pitchFamily="34" charset="0"/>
                <a:ea typeface="Cambria" pitchFamily="34" charset="-122"/>
                <a:cs typeface="Cambria" pitchFamily="34" charset="-120"/>
              </a:rPr>
              <a:t>What Really Drove Return on Equity</a:t>
            </a:r>
            <a:endParaRPr lang="en-US" sz="28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1100" i="1" dirty="0">
                <a:solidFill>
                  <a:srgbClr val="6B6B76"/>
                </a:solidFill>
                <a:latin typeface="Calibri" pitchFamily="34" charset="0"/>
                <a:ea typeface="Calibri" pitchFamily="34" charset="-122"/>
                <a:cs typeface="Calibri" pitchFamily="34" charset="-120"/>
              </a:rPr>
              <a:t>2002–2015 — charted only while Net Assets stayed positive</a:t>
            </a:r>
            <a:endParaRPr lang="en-US" sz="1100" dirty="0"/>
          </a:p>
        </p:txBody>
      </p:sp>
      <p:graphicFrame>
        <p:nvGraphicFramePr>
          <p:cNvPr id="5" name="Chart 0"/>
          <p:cNvGraphicFramePr/>
          <p:nvPr/>
        </p:nvGraphicFramePr>
        <p:xfrm>
          <a:off x="548640" y="1645920"/>
          <a:ext cx="1106424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6B7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D1D24"/>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FFC72C"/>
                </a:solidFill>
                <a:latin typeface="Calibri" pitchFamily="34" charset="0"/>
                <a:ea typeface="Calibri" pitchFamily="34" charset="-122"/>
                <a:cs typeface="Calibri" pitchFamily="34" charset="-120"/>
              </a:rPr>
              <a:t>FINDING 03</a:t>
            </a:r>
            <a:endParaRPr lang="en-US" sz="1200" dirty="0"/>
          </a:p>
        </p:txBody>
      </p:sp>
      <p:sp>
        <p:nvSpPr>
          <p:cNvPr id="3" name="Text 1"/>
          <p:cNvSpPr/>
          <p:nvPr/>
        </p:nvSpPr>
        <p:spPr>
          <a:xfrm>
            <a:off x="548640" y="77724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Debt Funded Buybacks — Until Equity Went Negative</a:t>
            </a:r>
            <a:endParaRPr lang="en-US" sz="2800" dirty="0"/>
          </a:p>
        </p:txBody>
      </p:sp>
      <p:graphicFrame>
        <p:nvGraphicFramePr>
          <p:cNvPr id="4" name="Chart 0"/>
          <p:cNvGraphicFramePr/>
          <p:nvPr/>
        </p:nvGraphicFramePr>
        <p:xfrm>
          <a:off x="548640" y="1600200"/>
          <a:ext cx="72237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001000" y="1600200"/>
            <a:ext cx="3611880" cy="4480560"/>
          </a:xfrm>
          <a:prstGeom prst="rect">
            <a:avLst/>
          </a:prstGeom>
          <a:solidFill>
            <a:srgbClr val="2A2A33"/>
          </a:solidFill>
          <a:ln/>
        </p:spPr>
      </p:sp>
      <p:sp>
        <p:nvSpPr>
          <p:cNvPr id="6" name="Text 3"/>
          <p:cNvSpPr/>
          <p:nvPr/>
        </p:nvSpPr>
        <p:spPr>
          <a:xfrm>
            <a:off x="8275320" y="1828800"/>
            <a:ext cx="3108960" cy="274320"/>
          </a:xfrm>
          <a:prstGeom prst="rect">
            <a:avLst/>
          </a:prstGeom>
          <a:noFill/>
          <a:ln/>
        </p:spPr>
        <p:txBody>
          <a:bodyPr wrap="square" rtlCol="0" anchor="ctr"/>
          <a:lstStyle/>
          <a:p>
            <a:pPr marL="0" indent="0">
              <a:buNone/>
            </a:pPr>
            <a:r>
              <a:rPr lang="en-US" sz="1100" b="1" kern="0" spc="200" dirty="0">
                <a:solidFill>
                  <a:srgbClr val="FFC72C"/>
                </a:solidFill>
                <a:latin typeface="Calibri" pitchFamily="34" charset="0"/>
                <a:ea typeface="Calibri" pitchFamily="34" charset="-122"/>
                <a:cs typeface="Calibri" pitchFamily="34" charset="-120"/>
              </a:rPr>
              <a:t>WHY IT MATTERS</a:t>
            </a:r>
            <a:endParaRPr lang="en-US" sz="1100" dirty="0"/>
          </a:p>
        </p:txBody>
      </p:sp>
      <p:sp>
        <p:nvSpPr>
          <p:cNvPr id="7" name="Text 4"/>
          <p:cNvSpPr/>
          <p:nvPr/>
        </p:nvSpPr>
        <p:spPr>
          <a:xfrm>
            <a:off x="8275320" y="2194560"/>
            <a:ext cx="3108960" cy="1188720"/>
          </a:xfrm>
          <a:prstGeom prst="rect">
            <a:avLst/>
          </a:prstGeom>
          <a:noFill/>
          <a:ln/>
        </p:spPr>
        <p:txBody>
          <a:bodyPr wrap="square" rtlCol="0" anchor="ctr"/>
          <a:lstStyle/>
          <a:p>
            <a:pPr marL="0" indent="0">
              <a:lnSpc>
                <a:spcPct val="125000"/>
              </a:lnSpc>
              <a:buNone/>
            </a:pPr>
            <a:r>
              <a:rPr lang="en-US" sz="1250" dirty="0">
                <a:solidFill>
                  <a:srgbClr val="FFFFFF"/>
                </a:solidFill>
                <a:latin typeface="Calibri" pitchFamily="34" charset="0"/>
                <a:ea typeface="Calibri" pitchFamily="34" charset="-122"/>
                <a:cs typeface="Calibri" pitchFamily="34" charset="-120"/>
              </a:rPr>
              <a:t>After 2014, McDonald's sharply increased debt to fund share buybacks and dividends, pushing shareholders' equity negative.</a:t>
            </a:r>
            <a:endParaRPr lang="en-US" sz="1250" dirty="0"/>
          </a:p>
        </p:txBody>
      </p:sp>
      <p:sp>
        <p:nvSpPr>
          <p:cNvPr id="8" name="Text 5"/>
          <p:cNvSpPr/>
          <p:nvPr/>
        </p:nvSpPr>
        <p:spPr>
          <a:xfrm>
            <a:off x="8275320" y="3520440"/>
            <a:ext cx="3108960" cy="1280160"/>
          </a:xfrm>
          <a:prstGeom prst="rect">
            <a:avLst/>
          </a:prstGeom>
          <a:noFill/>
          <a:ln/>
        </p:spPr>
        <p:txBody>
          <a:bodyPr wrap="square" rtlCol="0" anchor="ctr"/>
          <a:lstStyle/>
          <a:p>
            <a:pPr marL="0" indent="0">
              <a:lnSpc>
                <a:spcPct val="125000"/>
              </a:lnSpc>
              <a:buNone/>
            </a:pPr>
            <a:r>
              <a:rPr lang="en-US" sz="1250" dirty="0">
                <a:solidFill>
                  <a:srgbClr val="C7C7CF"/>
                </a:solidFill>
                <a:latin typeface="Calibri" pitchFamily="34" charset="0"/>
                <a:ea typeface="Calibri" pitchFamily="34" charset="-122"/>
                <a:cs typeface="Calibri" pitchFamily="34" charset="-120"/>
              </a:rPr>
              <a:t>Debt-to-equity turns mathematically negative once equity is negative, while debt-to-asset rose and then plateaued near 90–95%.</a:t>
            </a:r>
            <a:endParaRPr lang="en-US" sz="1250" dirty="0"/>
          </a:p>
        </p:txBody>
      </p:sp>
      <p:sp>
        <p:nvSpPr>
          <p:cNvPr id="9" name="Text 6"/>
          <p:cNvSpPr/>
          <p:nvPr/>
        </p:nvSpPr>
        <p:spPr>
          <a:xfrm>
            <a:off x="8275320" y="5029200"/>
            <a:ext cx="3108960" cy="822960"/>
          </a:xfrm>
          <a:prstGeom prst="rect">
            <a:avLst/>
          </a:prstGeom>
          <a:noFill/>
          <a:ln/>
        </p:spPr>
        <p:txBody>
          <a:bodyPr wrap="square" rtlCol="0" anchor="ctr"/>
          <a:lstStyle/>
          <a:p>
            <a:pPr marL="0" indent="0">
              <a:lnSpc>
                <a:spcPct val="120000"/>
              </a:lnSpc>
              <a:buNone/>
            </a:pPr>
            <a:r>
              <a:rPr lang="en-US" sz="1300" b="1" i="1" dirty="0">
                <a:solidFill>
                  <a:srgbClr val="FFC72C"/>
                </a:solidFill>
                <a:latin typeface="Calibri" pitchFamily="34" charset="0"/>
                <a:ea typeface="Calibri" pitchFamily="34" charset="-122"/>
                <a:cs typeface="Calibri" pitchFamily="34" charset="-120"/>
              </a:rPr>
              <a:t>Higher shareholder returns, higher financial risk.</a:t>
            </a:r>
            <a:endParaRPr lang="en-US" sz="1300" dirty="0"/>
          </a:p>
        </p:txBody>
      </p:sp>
      <p:sp>
        <p:nvSpPr>
          <p:cNvPr id="10" name="Text 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9A9AA5"/>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A291C"/>
                </a:solidFill>
                <a:latin typeface="Calibri" pitchFamily="34" charset="0"/>
                <a:ea typeface="Calibri" pitchFamily="34" charset="-122"/>
                <a:cs typeface="Calibri" pitchFamily="34" charset="-120"/>
              </a:rPr>
              <a:t>FINDING 04</a:t>
            </a:r>
            <a:endParaRPr lang="en-US" sz="1200" dirty="0"/>
          </a:p>
        </p:txBody>
      </p:sp>
      <p:sp>
        <p:nvSpPr>
          <p:cNvPr id="3" name="Text 1"/>
          <p:cNvSpPr/>
          <p:nvPr/>
        </p:nvSpPr>
        <p:spPr>
          <a:xfrm>
            <a:off x="548640" y="777240"/>
            <a:ext cx="10515600" cy="548640"/>
          </a:xfrm>
          <a:prstGeom prst="rect">
            <a:avLst/>
          </a:prstGeom>
          <a:noFill/>
          <a:ln/>
        </p:spPr>
        <p:txBody>
          <a:bodyPr wrap="square" rtlCol="0" anchor="ctr"/>
          <a:lstStyle/>
          <a:p>
            <a:pPr marL="0" indent="0">
              <a:buNone/>
            </a:pPr>
            <a:r>
              <a:rPr lang="en-US" sz="2800" b="1" dirty="0">
                <a:solidFill>
                  <a:srgbClr val="1D1D24"/>
                </a:solidFill>
                <a:latin typeface="Cambria" pitchFamily="34" charset="0"/>
                <a:ea typeface="Cambria" pitchFamily="34" charset="-122"/>
                <a:cs typeface="Cambria" pitchFamily="34" charset="-120"/>
              </a:rPr>
              <a:t>Bigger Dividend Checks, Same Yield</a:t>
            </a:r>
            <a:endParaRPr lang="en-US" sz="2800" dirty="0"/>
          </a:p>
        </p:txBody>
      </p:sp>
      <p:graphicFrame>
        <p:nvGraphicFramePr>
          <p:cNvPr id="4" name="Chart 0"/>
          <p:cNvGraphicFramePr/>
          <p:nvPr/>
        </p:nvGraphicFramePr>
        <p:xfrm>
          <a:off x="548640" y="1508760"/>
          <a:ext cx="110642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6172200"/>
            <a:ext cx="11064240" cy="457200"/>
          </a:xfrm>
          <a:prstGeom prst="rect">
            <a:avLst/>
          </a:prstGeom>
          <a:noFill/>
          <a:ln/>
        </p:spPr>
        <p:txBody>
          <a:bodyPr wrap="square" rtlCol="0" anchor="ctr"/>
          <a:lstStyle/>
          <a:p>
            <a:pPr marL="0" indent="0">
              <a:buNone/>
            </a:pPr>
            <a:r>
              <a:rPr lang="en-US" sz="1150" i="1" dirty="0">
                <a:solidFill>
                  <a:srgbClr val="6B6B76"/>
                </a:solidFill>
                <a:latin typeface="Calibri" pitchFamily="34" charset="0"/>
                <a:ea typeface="Calibri" pitchFamily="34" charset="-122"/>
                <a:cs typeface="Calibri" pitchFamily="34" charset="-120"/>
              </a:rPr>
              <a:t>The pay-out ratio climbed from ~15% (2002) to over 70% (2022), with dividends often rising even during earnings dips. Yield stayed roughly 2–3% throughout, since share-price growth kept pace with the larger payouts.</a:t>
            </a:r>
            <a:endParaRPr lang="en-US" sz="1150" dirty="0"/>
          </a:p>
        </p:txBody>
      </p:sp>
      <p:sp>
        <p:nvSpPr>
          <p:cNvPr id="6" name="Text 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6B7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A291C"/>
                </a:solidFill>
                <a:latin typeface="Calibri" pitchFamily="34" charset="0"/>
                <a:ea typeface="Calibri" pitchFamily="34" charset="-122"/>
                <a:cs typeface="Calibri" pitchFamily="34" charset="-120"/>
              </a:rPr>
              <a:t>FINDING 05 &amp; 06</a:t>
            </a:r>
            <a:endParaRPr lang="en-US" sz="1200" dirty="0"/>
          </a:p>
        </p:txBody>
      </p:sp>
      <p:sp>
        <p:nvSpPr>
          <p:cNvPr id="3" name="Text 1"/>
          <p:cNvSpPr/>
          <p:nvPr/>
        </p:nvSpPr>
        <p:spPr>
          <a:xfrm>
            <a:off x="548640" y="777240"/>
            <a:ext cx="10515600" cy="548640"/>
          </a:xfrm>
          <a:prstGeom prst="rect">
            <a:avLst/>
          </a:prstGeom>
          <a:noFill/>
          <a:ln/>
        </p:spPr>
        <p:txBody>
          <a:bodyPr wrap="square" rtlCol="0" anchor="ctr"/>
          <a:lstStyle/>
          <a:p>
            <a:pPr marL="0" indent="0">
              <a:buNone/>
            </a:pPr>
            <a:r>
              <a:rPr lang="en-US" sz="2800" b="1" dirty="0">
                <a:solidFill>
                  <a:srgbClr val="1D1D24"/>
                </a:solidFill>
                <a:latin typeface="Cambria" pitchFamily="34" charset="0"/>
                <a:ea typeface="Cambria" pitchFamily="34" charset="-122"/>
                <a:cs typeface="Cambria" pitchFamily="34" charset="-120"/>
              </a:rPr>
              <a:t>Asset Efficiency &amp; Cost Discipline</a:t>
            </a:r>
            <a:endParaRPr lang="en-US" sz="2800" dirty="0"/>
          </a:p>
        </p:txBody>
      </p:sp>
      <p:graphicFrame>
        <p:nvGraphicFramePr>
          <p:cNvPr id="4" name="Chart 0"/>
          <p:cNvGraphicFramePr/>
          <p:nvPr/>
        </p:nvGraphicFramePr>
        <p:xfrm>
          <a:off x="548640" y="1508760"/>
          <a:ext cx="1106424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5989320"/>
            <a:ext cx="11064240" cy="594360"/>
          </a:xfrm>
          <a:prstGeom prst="rect">
            <a:avLst/>
          </a:prstGeom>
          <a:noFill/>
          <a:ln/>
        </p:spPr>
        <p:txBody>
          <a:bodyPr wrap="square" rtlCol="0" anchor="ctr"/>
          <a:lstStyle/>
          <a:p>
            <a:pPr marL="0" indent="0">
              <a:buNone/>
            </a:pPr>
            <a:r>
              <a:rPr lang="en-US" sz="1150" i="1" dirty="0">
                <a:solidFill>
                  <a:srgbClr val="6B6B76"/>
                </a:solidFill>
                <a:latin typeface="Calibri" pitchFamily="34" charset="0"/>
                <a:ea typeface="Calibri" pitchFamily="34" charset="-122"/>
                <a:cs typeface="Calibri" pitchFamily="34" charset="-120"/>
              </a:rPr>
              <a:t>Operating margin improved almost every year — from ~11% to ~34–39% — reflecting sustained cost control. ROA rose when earnings grew or the asset base shrank (notably post-refranchising), and dipped when asset growth outpaced earnings.</a:t>
            </a:r>
            <a:endParaRPr lang="en-US" sz="1150" dirty="0"/>
          </a:p>
        </p:txBody>
      </p:sp>
      <p:sp>
        <p:nvSpPr>
          <p:cNvPr id="6" name="Text 3"/>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6B76"/>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2F2F2"/>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A291C"/>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777240"/>
            <a:ext cx="9144000" cy="548640"/>
          </a:xfrm>
          <a:prstGeom prst="rect">
            <a:avLst/>
          </a:prstGeom>
          <a:noFill/>
          <a:ln/>
        </p:spPr>
        <p:txBody>
          <a:bodyPr wrap="square" rtlCol="0" anchor="ctr"/>
          <a:lstStyle/>
          <a:p>
            <a:pPr marL="0" indent="0">
              <a:buNone/>
            </a:pPr>
            <a:r>
              <a:rPr lang="en-US" sz="3200" b="1" dirty="0">
                <a:solidFill>
                  <a:srgbClr val="1D1D24"/>
                </a:solidFill>
                <a:latin typeface="Cambria" pitchFamily="34" charset="0"/>
                <a:ea typeface="Cambria" pitchFamily="34" charset="-122"/>
                <a:cs typeface="Cambria" pitchFamily="34" charset="-120"/>
              </a:rPr>
              <a:t>Key Findings at a Glance</a:t>
            </a:r>
            <a:endParaRPr lang="en-US" sz="3200" dirty="0"/>
          </a:p>
        </p:txBody>
      </p:sp>
      <p:sp>
        <p:nvSpPr>
          <p:cNvPr id="4" name="Shape 2"/>
          <p:cNvSpPr/>
          <p:nvPr/>
        </p:nvSpPr>
        <p:spPr>
          <a:xfrm>
            <a:off x="548640" y="1600200"/>
            <a:ext cx="3566160" cy="2148840"/>
          </a:xfrm>
          <a:prstGeom prst="roundRect">
            <a:avLst>
              <a:gd name="adj" fmla="val 2553"/>
            </a:avLst>
          </a:prstGeom>
          <a:solidFill>
            <a:srgbClr val="FFFFFF"/>
          </a:solidFill>
          <a:ln/>
          <a:effectLst>
            <a:outerShdw blurRad="101600" dist="38100" dir="5400000" algn="bl" rotWithShape="0">
              <a:srgbClr val="000000">
                <a:alpha val="12000"/>
              </a:srgbClr>
            </a:outerShdw>
          </a:effectLst>
        </p:spPr>
      </p:sp>
      <p:sp>
        <p:nvSpPr>
          <p:cNvPr id="5" name="Shape 3"/>
          <p:cNvSpPr/>
          <p:nvPr/>
        </p:nvSpPr>
        <p:spPr>
          <a:xfrm>
            <a:off x="804672" y="1856232"/>
            <a:ext cx="411480" cy="411480"/>
          </a:xfrm>
          <a:prstGeom prst="ellipse">
            <a:avLst/>
          </a:prstGeom>
          <a:solidFill>
            <a:srgbClr val="1D1D24"/>
          </a:solidFill>
          <a:ln/>
        </p:spPr>
      </p:sp>
      <p:sp>
        <p:nvSpPr>
          <p:cNvPr id="6" name="Text 4"/>
          <p:cNvSpPr/>
          <p:nvPr/>
        </p:nvSpPr>
        <p:spPr>
          <a:xfrm>
            <a:off x="804672" y="1856232"/>
            <a:ext cx="411480" cy="411480"/>
          </a:xfrm>
          <a:prstGeom prst="rect">
            <a:avLst/>
          </a:prstGeom>
          <a:noFill/>
          <a:ln/>
        </p:spPr>
        <p:txBody>
          <a:bodyPr wrap="square" rtlCol="0" anchor="ctr"/>
          <a:lstStyle/>
          <a:p>
            <a:pPr marL="0" indent="0" algn="ctr">
              <a:buNone/>
            </a:pPr>
            <a:r>
              <a:rPr lang="en-US" sz="1400" b="1" dirty="0">
                <a:solidFill>
                  <a:srgbClr val="FFC72C"/>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804672" y="2423160"/>
            <a:ext cx="3108960" cy="365760"/>
          </a:xfrm>
          <a:prstGeom prst="rect">
            <a:avLst/>
          </a:prstGeom>
          <a:noFill/>
          <a:ln/>
        </p:spPr>
        <p:txBody>
          <a:bodyPr wrap="square" rtlCol="0" anchor="ctr"/>
          <a:lstStyle/>
          <a:p>
            <a:pPr marL="0" indent="0">
              <a:buNone/>
            </a:pPr>
            <a:r>
              <a:rPr lang="en-US" sz="1400" b="1" dirty="0">
                <a:solidFill>
                  <a:srgbClr val="1D1D24"/>
                </a:solidFill>
                <a:latin typeface="Cambria" pitchFamily="34" charset="0"/>
                <a:ea typeface="Cambria" pitchFamily="34" charset="-122"/>
                <a:cs typeface="Cambria" pitchFamily="34" charset="-120"/>
              </a:rPr>
              <a:t>Growth matured</a:t>
            </a:r>
            <a:endParaRPr lang="en-US" sz="1400" dirty="0"/>
          </a:p>
        </p:txBody>
      </p:sp>
      <p:sp>
        <p:nvSpPr>
          <p:cNvPr id="8" name="Text 6"/>
          <p:cNvSpPr/>
          <p:nvPr/>
        </p:nvSpPr>
        <p:spPr>
          <a:xfrm>
            <a:off x="804672" y="2788920"/>
            <a:ext cx="3108960" cy="868680"/>
          </a:xfrm>
          <a:prstGeom prst="rect">
            <a:avLst/>
          </a:prstGeom>
          <a:noFill/>
          <a:ln/>
        </p:spPr>
        <p:txBody>
          <a:bodyPr wrap="square" rtlCol="0" anchor="ctr"/>
          <a:lstStyle/>
          <a:p>
            <a:pPr marL="0" indent="0">
              <a:lnSpc>
                <a:spcPct val="120000"/>
              </a:lnSpc>
              <a:buNone/>
            </a:pPr>
            <a:r>
              <a:rPr lang="en-US" sz="1050" dirty="0">
                <a:solidFill>
                  <a:srgbClr val="3A3A42"/>
                </a:solidFill>
                <a:latin typeface="Calibri" pitchFamily="34" charset="0"/>
                <a:ea typeface="Calibri" pitchFamily="34" charset="-122"/>
                <a:cs typeface="Calibri" pitchFamily="34" charset="-120"/>
              </a:rPr>
              <a:t>Revenue growth plateaued after 2013; earnings kept pace through efficiency, not expansion.</a:t>
            </a:r>
            <a:endParaRPr lang="en-US" sz="1050" dirty="0"/>
          </a:p>
        </p:txBody>
      </p:sp>
      <p:sp>
        <p:nvSpPr>
          <p:cNvPr id="9" name="Shape 7"/>
          <p:cNvSpPr/>
          <p:nvPr/>
        </p:nvSpPr>
        <p:spPr>
          <a:xfrm>
            <a:off x="4343400" y="1600200"/>
            <a:ext cx="3566160" cy="2148840"/>
          </a:xfrm>
          <a:prstGeom prst="roundRect">
            <a:avLst>
              <a:gd name="adj" fmla="val 2553"/>
            </a:avLst>
          </a:prstGeom>
          <a:solidFill>
            <a:srgbClr val="FFFFFF"/>
          </a:solidFill>
          <a:ln/>
          <a:effectLst>
            <a:outerShdw blurRad="101600" dist="38100" dir="5400000" algn="bl" rotWithShape="0">
              <a:srgbClr val="000000">
                <a:alpha val="12000"/>
              </a:srgbClr>
            </a:outerShdw>
          </a:effectLst>
        </p:spPr>
      </p:sp>
      <p:sp>
        <p:nvSpPr>
          <p:cNvPr id="10" name="Shape 8"/>
          <p:cNvSpPr/>
          <p:nvPr/>
        </p:nvSpPr>
        <p:spPr>
          <a:xfrm>
            <a:off x="4599432" y="1856232"/>
            <a:ext cx="411480" cy="411480"/>
          </a:xfrm>
          <a:prstGeom prst="ellipse">
            <a:avLst/>
          </a:prstGeom>
          <a:solidFill>
            <a:srgbClr val="DA291C"/>
          </a:solidFill>
          <a:ln/>
        </p:spPr>
      </p:sp>
      <p:sp>
        <p:nvSpPr>
          <p:cNvPr id="11" name="Text 9"/>
          <p:cNvSpPr/>
          <p:nvPr/>
        </p:nvSpPr>
        <p:spPr>
          <a:xfrm>
            <a:off x="4599432" y="1856232"/>
            <a:ext cx="411480" cy="411480"/>
          </a:xfrm>
          <a:prstGeom prst="rect">
            <a:avLst/>
          </a:prstGeom>
          <a:noFill/>
          <a:ln/>
        </p:spPr>
        <p:txBody>
          <a:bodyPr wrap="square" rtlCol="0" anchor="ctr"/>
          <a:lstStyle/>
          <a:p>
            <a:pPr marL="0" indent="0" algn="ctr">
              <a:buNone/>
            </a:pPr>
            <a:r>
              <a:rPr lang="en-US" sz="1400" b="1" dirty="0">
                <a:solidFill>
                  <a:srgbClr val="FFC72C"/>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4599432" y="2423160"/>
            <a:ext cx="3108960" cy="365760"/>
          </a:xfrm>
          <a:prstGeom prst="rect">
            <a:avLst/>
          </a:prstGeom>
          <a:noFill/>
          <a:ln/>
        </p:spPr>
        <p:txBody>
          <a:bodyPr wrap="square" rtlCol="0" anchor="ctr"/>
          <a:lstStyle/>
          <a:p>
            <a:pPr marL="0" indent="0">
              <a:buNone/>
            </a:pPr>
            <a:r>
              <a:rPr lang="en-US" sz="1400" b="1" dirty="0">
                <a:solidFill>
                  <a:srgbClr val="1D1D24"/>
                </a:solidFill>
                <a:latin typeface="Cambria" pitchFamily="34" charset="0"/>
                <a:ea typeface="Cambria" pitchFamily="34" charset="-122"/>
                <a:cs typeface="Cambria" pitchFamily="34" charset="-120"/>
              </a:rPr>
              <a:t>Leverage inflated ROE</a:t>
            </a:r>
            <a:endParaRPr lang="en-US" sz="1400" dirty="0"/>
          </a:p>
        </p:txBody>
      </p:sp>
      <p:sp>
        <p:nvSpPr>
          <p:cNvPr id="13" name="Text 11"/>
          <p:cNvSpPr/>
          <p:nvPr/>
        </p:nvSpPr>
        <p:spPr>
          <a:xfrm>
            <a:off x="4599432" y="2788920"/>
            <a:ext cx="3108960" cy="868680"/>
          </a:xfrm>
          <a:prstGeom prst="rect">
            <a:avLst/>
          </a:prstGeom>
          <a:noFill/>
          <a:ln/>
        </p:spPr>
        <p:txBody>
          <a:bodyPr wrap="square" rtlCol="0" anchor="ctr"/>
          <a:lstStyle/>
          <a:p>
            <a:pPr marL="0" indent="0">
              <a:lnSpc>
                <a:spcPct val="120000"/>
              </a:lnSpc>
              <a:buNone/>
            </a:pPr>
            <a:r>
              <a:rPr lang="en-US" sz="1050" dirty="0">
                <a:solidFill>
                  <a:srgbClr val="3A3A42"/>
                </a:solidFill>
                <a:latin typeface="Calibri" pitchFamily="34" charset="0"/>
                <a:ea typeface="Calibri" pitchFamily="34" charset="-122"/>
                <a:cs typeface="Calibri" pitchFamily="34" charset="-120"/>
              </a:rPr>
              <a:t>Post-2014, a rising equity multiplier — not margin or turnover — drove ROE higher, until negative equity broke the ratio.</a:t>
            </a:r>
            <a:endParaRPr lang="en-US" sz="1050" dirty="0"/>
          </a:p>
        </p:txBody>
      </p:sp>
      <p:sp>
        <p:nvSpPr>
          <p:cNvPr id="14" name="Shape 12"/>
          <p:cNvSpPr/>
          <p:nvPr/>
        </p:nvSpPr>
        <p:spPr>
          <a:xfrm>
            <a:off x="8138160" y="1600200"/>
            <a:ext cx="3566160" cy="2148840"/>
          </a:xfrm>
          <a:prstGeom prst="roundRect">
            <a:avLst>
              <a:gd name="adj" fmla="val 2553"/>
            </a:avLst>
          </a:prstGeom>
          <a:solidFill>
            <a:srgbClr val="FFFFFF"/>
          </a:solidFill>
          <a:ln/>
          <a:effectLst>
            <a:outerShdw blurRad="101600" dist="38100" dir="5400000" algn="bl" rotWithShape="0">
              <a:srgbClr val="000000">
                <a:alpha val="12000"/>
              </a:srgbClr>
            </a:outerShdw>
          </a:effectLst>
        </p:spPr>
      </p:sp>
      <p:sp>
        <p:nvSpPr>
          <p:cNvPr id="15" name="Shape 13"/>
          <p:cNvSpPr/>
          <p:nvPr/>
        </p:nvSpPr>
        <p:spPr>
          <a:xfrm>
            <a:off x="8394192" y="1856232"/>
            <a:ext cx="411480" cy="411480"/>
          </a:xfrm>
          <a:prstGeom prst="ellipse">
            <a:avLst/>
          </a:prstGeom>
          <a:solidFill>
            <a:srgbClr val="1D1D24"/>
          </a:solidFill>
          <a:ln/>
        </p:spPr>
      </p:sp>
      <p:sp>
        <p:nvSpPr>
          <p:cNvPr id="16" name="Text 14"/>
          <p:cNvSpPr/>
          <p:nvPr/>
        </p:nvSpPr>
        <p:spPr>
          <a:xfrm>
            <a:off x="8394192" y="1856232"/>
            <a:ext cx="411480" cy="411480"/>
          </a:xfrm>
          <a:prstGeom prst="rect">
            <a:avLst/>
          </a:prstGeom>
          <a:noFill/>
          <a:ln/>
        </p:spPr>
        <p:txBody>
          <a:bodyPr wrap="square" rtlCol="0" anchor="ctr"/>
          <a:lstStyle/>
          <a:p>
            <a:pPr marL="0" indent="0" algn="ctr">
              <a:buNone/>
            </a:pPr>
            <a:r>
              <a:rPr lang="en-US" sz="1400" b="1" dirty="0">
                <a:solidFill>
                  <a:srgbClr val="FFC72C"/>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8394192" y="2423160"/>
            <a:ext cx="3108960" cy="365760"/>
          </a:xfrm>
          <a:prstGeom prst="rect">
            <a:avLst/>
          </a:prstGeom>
          <a:noFill/>
          <a:ln/>
        </p:spPr>
        <p:txBody>
          <a:bodyPr wrap="square" rtlCol="0" anchor="ctr"/>
          <a:lstStyle/>
          <a:p>
            <a:pPr marL="0" indent="0">
              <a:buNone/>
            </a:pPr>
            <a:r>
              <a:rPr lang="en-US" sz="1400" b="1" dirty="0">
                <a:solidFill>
                  <a:srgbClr val="1D1D24"/>
                </a:solidFill>
                <a:latin typeface="Cambria" pitchFamily="34" charset="0"/>
                <a:ea typeface="Cambria" pitchFamily="34" charset="-122"/>
                <a:cs typeface="Cambria" pitchFamily="34" charset="-120"/>
              </a:rPr>
              <a:t>Risk rose with buybacks</a:t>
            </a:r>
            <a:endParaRPr lang="en-US" sz="1400" dirty="0"/>
          </a:p>
        </p:txBody>
      </p:sp>
      <p:sp>
        <p:nvSpPr>
          <p:cNvPr id="18" name="Text 16"/>
          <p:cNvSpPr/>
          <p:nvPr/>
        </p:nvSpPr>
        <p:spPr>
          <a:xfrm>
            <a:off x="8394192" y="2788920"/>
            <a:ext cx="3108960" cy="868680"/>
          </a:xfrm>
          <a:prstGeom prst="rect">
            <a:avLst/>
          </a:prstGeom>
          <a:noFill/>
          <a:ln/>
        </p:spPr>
        <p:txBody>
          <a:bodyPr wrap="square" rtlCol="0" anchor="ctr"/>
          <a:lstStyle/>
          <a:p>
            <a:pPr marL="0" indent="0">
              <a:lnSpc>
                <a:spcPct val="120000"/>
              </a:lnSpc>
              <a:buNone/>
            </a:pPr>
            <a:r>
              <a:rPr lang="en-US" sz="1050" dirty="0">
                <a:solidFill>
                  <a:srgbClr val="3A3A42"/>
                </a:solidFill>
                <a:latin typeface="Calibri" pitchFamily="34" charset="0"/>
                <a:ea typeface="Calibri" pitchFamily="34" charset="-122"/>
                <a:cs typeface="Calibri" pitchFamily="34" charset="-120"/>
              </a:rPr>
              <a:t>Aggressive debt-funded share repurchases pushed debt-to-asset above 90%.</a:t>
            </a:r>
            <a:endParaRPr lang="en-US" sz="1050" dirty="0"/>
          </a:p>
        </p:txBody>
      </p:sp>
      <p:sp>
        <p:nvSpPr>
          <p:cNvPr id="19" name="Shape 17"/>
          <p:cNvSpPr/>
          <p:nvPr/>
        </p:nvSpPr>
        <p:spPr>
          <a:xfrm>
            <a:off x="548640" y="3977640"/>
            <a:ext cx="3566160" cy="2148840"/>
          </a:xfrm>
          <a:prstGeom prst="roundRect">
            <a:avLst>
              <a:gd name="adj" fmla="val 2553"/>
            </a:avLst>
          </a:prstGeom>
          <a:solidFill>
            <a:srgbClr val="FFFFFF"/>
          </a:solidFill>
          <a:ln/>
          <a:effectLst>
            <a:outerShdw blurRad="101600" dist="38100" dir="5400000" algn="bl" rotWithShape="0">
              <a:srgbClr val="000000">
                <a:alpha val="12000"/>
              </a:srgbClr>
            </a:outerShdw>
          </a:effectLst>
        </p:spPr>
      </p:sp>
      <p:sp>
        <p:nvSpPr>
          <p:cNvPr id="20" name="Shape 18"/>
          <p:cNvSpPr/>
          <p:nvPr/>
        </p:nvSpPr>
        <p:spPr>
          <a:xfrm>
            <a:off x="804672" y="4233672"/>
            <a:ext cx="411480" cy="411480"/>
          </a:xfrm>
          <a:prstGeom prst="ellipse">
            <a:avLst/>
          </a:prstGeom>
          <a:solidFill>
            <a:srgbClr val="DA291C"/>
          </a:solidFill>
          <a:ln/>
        </p:spPr>
      </p:sp>
      <p:sp>
        <p:nvSpPr>
          <p:cNvPr id="21" name="Text 19"/>
          <p:cNvSpPr/>
          <p:nvPr/>
        </p:nvSpPr>
        <p:spPr>
          <a:xfrm>
            <a:off x="804672" y="4233672"/>
            <a:ext cx="411480" cy="411480"/>
          </a:xfrm>
          <a:prstGeom prst="rect">
            <a:avLst/>
          </a:prstGeom>
          <a:noFill/>
          <a:ln/>
        </p:spPr>
        <p:txBody>
          <a:bodyPr wrap="square" rtlCol="0" anchor="ctr"/>
          <a:lstStyle/>
          <a:p>
            <a:pPr marL="0" indent="0" algn="ctr">
              <a:buNone/>
            </a:pPr>
            <a:r>
              <a:rPr lang="en-US" sz="1400" b="1" dirty="0">
                <a:solidFill>
                  <a:srgbClr val="FFC72C"/>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804672" y="4800600"/>
            <a:ext cx="3108960" cy="365760"/>
          </a:xfrm>
          <a:prstGeom prst="rect">
            <a:avLst/>
          </a:prstGeom>
          <a:noFill/>
          <a:ln/>
        </p:spPr>
        <p:txBody>
          <a:bodyPr wrap="square" rtlCol="0" anchor="ctr"/>
          <a:lstStyle/>
          <a:p>
            <a:pPr marL="0" indent="0">
              <a:buNone/>
            </a:pPr>
            <a:r>
              <a:rPr lang="en-US" sz="1400" b="1" dirty="0">
                <a:solidFill>
                  <a:srgbClr val="1D1D24"/>
                </a:solidFill>
                <a:latin typeface="Cambria" pitchFamily="34" charset="0"/>
                <a:ea typeface="Cambria" pitchFamily="34" charset="-122"/>
                <a:cs typeface="Cambria" pitchFamily="34" charset="-120"/>
              </a:rPr>
              <a:t>Dividends kept growing</a:t>
            </a:r>
            <a:endParaRPr lang="en-US" sz="1400" dirty="0"/>
          </a:p>
        </p:txBody>
      </p:sp>
      <p:sp>
        <p:nvSpPr>
          <p:cNvPr id="23" name="Text 21"/>
          <p:cNvSpPr/>
          <p:nvPr/>
        </p:nvSpPr>
        <p:spPr>
          <a:xfrm>
            <a:off x="804672" y="5166360"/>
            <a:ext cx="3108960" cy="868680"/>
          </a:xfrm>
          <a:prstGeom prst="rect">
            <a:avLst/>
          </a:prstGeom>
          <a:noFill/>
          <a:ln/>
        </p:spPr>
        <p:txBody>
          <a:bodyPr wrap="square" rtlCol="0" anchor="ctr"/>
          <a:lstStyle/>
          <a:p>
            <a:pPr marL="0" indent="0">
              <a:lnSpc>
                <a:spcPct val="120000"/>
              </a:lnSpc>
              <a:buNone/>
            </a:pPr>
            <a:r>
              <a:rPr lang="en-US" sz="1050" dirty="0">
                <a:solidFill>
                  <a:srgbClr val="3A3A42"/>
                </a:solidFill>
                <a:latin typeface="Calibri" pitchFamily="34" charset="0"/>
                <a:ea typeface="Calibri" pitchFamily="34" charset="-122"/>
                <a:cs typeface="Calibri" pitchFamily="34" charset="-120"/>
              </a:rPr>
              <a:t>Pay-out ratio nearly quintupled since 2002, even through earnings dips.</a:t>
            </a:r>
            <a:endParaRPr lang="en-US" sz="1050" dirty="0"/>
          </a:p>
        </p:txBody>
      </p:sp>
      <p:sp>
        <p:nvSpPr>
          <p:cNvPr id="24" name="Shape 22"/>
          <p:cNvSpPr/>
          <p:nvPr/>
        </p:nvSpPr>
        <p:spPr>
          <a:xfrm>
            <a:off x="4343400" y="3977640"/>
            <a:ext cx="3566160" cy="2148840"/>
          </a:xfrm>
          <a:prstGeom prst="roundRect">
            <a:avLst>
              <a:gd name="adj" fmla="val 2553"/>
            </a:avLst>
          </a:prstGeom>
          <a:solidFill>
            <a:srgbClr val="FFFFFF"/>
          </a:solidFill>
          <a:ln/>
          <a:effectLst>
            <a:outerShdw blurRad="101600" dist="38100" dir="5400000" algn="bl" rotWithShape="0">
              <a:srgbClr val="000000">
                <a:alpha val="12000"/>
              </a:srgbClr>
            </a:outerShdw>
          </a:effectLst>
        </p:spPr>
      </p:sp>
      <p:sp>
        <p:nvSpPr>
          <p:cNvPr id="25" name="Shape 23"/>
          <p:cNvSpPr/>
          <p:nvPr/>
        </p:nvSpPr>
        <p:spPr>
          <a:xfrm>
            <a:off x="4599432" y="4233672"/>
            <a:ext cx="411480" cy="411480"/>
          </a:xfrm>
          <a:prstGeom prst="ellipse">
            <a:avLst/>
          </a:prstGeom>
          <a:solidFill>
            <a:srgbClr val="1D1D24"/>
          </a:solidFill>
          <a:ln/>
        </p:spPr>
      </p:sp>
      <p:sp>
        <p:nvSpPr>
          <p:cNvPr id="26" name="Text 24"/>
          <p:cNvSpPr/>
          <p:nvPr/>
        </p:nvSpPr>
        <p:spPr>
          <a:xfrm>
            <a:off x="4599432" y="4233672"/>
            <a:ext cx="411480" cy="411480"/>
          </a:xfrm>
          <a:prstGeom prst="rect">
            <a:avLst/>
          </a:prstGeom>
          <a:noFill/>
          <a:ln/>
        </p:spPr>
        <p:txBody>
          <a:bodyPr wrap="square" rtlCol="0" anchor="ctr"/>
          <a:lstStyle/>
          <a:p>
            <a:pPr marL="0" indent="0" algn="ctr">
              <a:buNone/>
            </a:pPr>
            <a:r>
              <a:rPr lang="en-US" sz="1400" b="1" dirty="0">
                <a:solidFill>
                  <a:srgbClr val="FFC72C"/>
                </a:solidFill>
                <a:latin typeface="Cambria" pitchFamily="34" charset="0"/>
                <a:ea typeface="Cambria" pitchFamily="34" charset="-122"/>
                <a:cs typeface="Cambria" pitchFamily="34" charset="-120"/>
              </a:rPr>
              <a:t>5</a:t>
            </a:r>
            <a:endParaRPr lang="en-US" sz="1400" dirty="0"/>
          </a:p>
        </p:txBody>
      </p:sp>
      <p:sp>
        <p:nvSpPr>
          <p:cNvPr id="27" name="Text 25"/>
          <p:cNvSpPr/>
          <p:nvPr/>
        </p:nvSpPr>
        <p:spPr>
          <a:xfrm>
            <a:off x="4599432" y="4800600"/>
            <a:ext cx="3108960" cy="365760"/>
          </a:xfrm>
          <a:prstGeom prst="rect">
            <a:avLst/>
          </a:prstGeom>
          <a:noFill/>
          <a:ln/>
        </p:spPr>
        <p:txBody>
          <a:bodyPr wrap="square" rtlCol="0" anchor="ctr"/>
          <a:lstStyle/>
          <a:p>
            <a:pPr marL="0" indent="0">
              <a:buNone/>
            </a:pPr>
            <a:r>
              <a:rPr lang="en-US" sz="1400" b="1" dirty="0">
                <a:solidFill>
                  <a:srgbClr val="1D1D24"/>
                </a:solidFill>
                <a:latin typeface="Cambria" pitchFamily="34" charset="0"/>
                <a:ea typeface="Cambria" pitchFamily="34" charset="-122"/>
                <a:cs typeface="Cambria" pitchFamily="34" charset="-120"/>
              </a:rPr>
              <a:t>Margins stayed strong</a:t>
            </a:r>
            <a:endParaRPr lang="en-US" sz="1400" dirty="0"/>
          </a:p>
        </p:txBody>
      </p:sp>
      <p:sp>
        <p:nvSpPr>
          <p:cNvPr id="28" name="Text 26"/>
          <p:cNvSpPr/>
          <p:nvPr/>
        </p:nvSpPr>
        <p:spPr>
          <a:xfrm>
            <a:off x="4599432" y="5166360"/>
            <a:ext cx="3108960" cy="868680"/>
          </a:xfrm>
          <a:prstGeom prst="rect">
            <a:avLst/>
          </a:prstGeom>
          <a:noFill/>
          <a:ln/>
        </p:spPr>
        <p:txBody>
          <a:bodyPr wrap="square" rtlCol="0" anchor="ctr"/>
          <a:lstStyle/>
          <a:p>
            <a:pPr marL="0" indent="0">
              <a:lnSpc>
                <a:spcPct val="120000"/>
              </a:lnSpc>
              <a:buNone/>
            </a:pPr>
            <a:r>
              <a:rPr lang="en-US" sz="1050" dirty="0">
                <a:solidFill>
                  <a:srgbClr val="3A3A42"/>
                </a:solidFill>
                <a:latin typeface="Calibri" pitchFamily="34" charset="0"/>
                <a:ea typeface="Calibri" pitchFamily="34" charset="-122"/>
                <a:cs typeface="Calibri" pitchFamily="34" charset="-120"/>
              </a:rPr>
              <a:t>Operating margin climbed steadily, the clearest sign of durable operational discipline.</a:t>
            </a:r>
            <a:endParaRPr lang="en-US" sz="1050" dirty="0"/>
          </a:p>
        </p:txBody>
      </p:sp>
      <p:sp>
        <p:nvSpPr>
          <p:cNvPr id="29" name="Shape 27"/>
          <p:cNvSpPr/>
          <p:nvPr/>
        </p:nvSpPr>
        <p:spPr>
          <a:xfrm>
            <a:off x="8138160" y="3977640"/>
            <a:ext cx="3566160" cy="2148840"/>
          </a:xfrm>
          <a:prstGeom prst="roundRect">
            <a:avLst>
              <a:gd name="adj" fmla="val 2553"/>
            </a:avLst>
          </a:prstGeom>
          <a:solidFill>
            <a:srgbClr val="FFFFFF"/>
          </a:solidFill>
          <a:ln/>
          <a:effectLst>
            <a:outerShdw blurRad="101600" dist="38100" dir="5400000" algn="bl" rotWithShape="0">
              <a:srgbClr val="000000">
                <a:alpha val="12000"/>
              </a:srgbClr>
            </a:outerShdw>
          </a:effectLst>
        </p:spPr>
      </p:sp>
      <p:sp>
        <p:nvSpPr>
          <p:cNvPr id="30" name="Shape 28"/>
          <p:cNvSpPr/>
          <p:nvPr/>
        </p:nvSpPr>
        <p:spPr>
          <a:xfrm>
            <a:off x="8394192" y="4233672"/>
            <a:ext cx="411480" cy="411480"/>
          </a:xfrm>
          <a:prstGeom prst="ellipse">
            <a:avLst/>
          </a:prstGeom>
          <a:solidFill>
            <a:srgbClr val="DA291C"/>
          </a:solidFill>
          <a:ln/>
        </p:spPr>
      </p:sp>
      <p:sp>
        <p:nvSpPr>
          <p:cNvPr id="31" name="Text 29"/>
          <p:cNvSpPr/>
          <p:nvPr/>
        </p:nvSpPr>
        <p:spPr>
          <a:xfrm>
            <a:off x="8394192" y="4233672"/>
            <a:ext cx="411480" cy="411480"/>
          </a:xfrm>
          <a:prstGeom prst="rect">
            <a:avLst/>
          </a:prstGeom>
          <a:noFill/>
          <a:ln/>
        </p:spPr>
        <p:txBody>
          <a:bodyPr wrap="square" rtlCol="0" anchor="ctr"/>
          <a:lstStyle/>
          <a:p>
            <a:pPr marL="0" indent="0" algn="ctr">
              <a:buNone/>
            </a:pPr>
            <a:r>
              <a:rPr lang="en-US" sz="1400" b="1" dirty="0">
                <a:solidFill>
                  <a:srgbClr val="FFC72C"/>
                </a:solidFill>
                <a:latin typeface="Cambria" pitchFamily="34" charset="0"/>
                <a:ea typeface="Cambria" pitchFamily="34" charset="-122"/>
                <a:cs typeface="Cambria" pitchFamily="34" charset="-120"/>
              </a:rPr>
              <a:t>6</a:t>
            </a:r>
            <a:endParaRPr lang="en-US" sz="1400" dirty="0"/>
          </a:p>
        </p:txBody>
      </p:sp>
      <p:sp>
        <p:nvSpPr>
          <p:cNvPr id="32" name="Text 30"/>
          <p:cNvSpPr/>
          <p:nvPr/>
        </p:nvSpPr>
        <p:spPr>
          <a:xfrm>
            <a:off x="8394192" y="4800600"/>
            <a:ext cx="3108960" cy="365760"/>
          </a:xfrm>
          <a:prstGeom prst="rect">
            <a:avLst/>
          </a:prstGeom>
          <a:noFill/>
          <a:ln/>
        </p:spPr>
        <p:txBody>
          <a:bodyPr wrap="square" rtlCol="0" anchor="ctr"/>
          <a:lstStyle/>
          <a:p>
            <a:pPr marL="0" indent="0">
              <a:buNone/>
            </a:pPr>
            <a:r>
              <a:rPr lang="en-US" sz="1400" b="1" dirty="0">
                <a:solidFill>
                  <a:srgbClr val="1D1D24"/>
                </a:solidFill>
                <a:latin typeface="Cambria" pitchFamily="34" charset="0"/>
                <a:ea typeface="Cambria" pitchFamily="34" charset="-122"/>
                <a:cs typeface="Cambria" pitchFamily="34" charset="-120"/>
              </a:rPr>
              <a:t>Refranchising paid off</a:t>
            </a:r>
            <a:endParaRPr lang="en-US" sz="1400" dirty="0"/>
          </a:p>
        </p:txBody>
      </p:sp>
      <p:sp>
        <p:nvSpPr>
          <p:cNvPr id="33" name="Text 31"/>
          <p:cNvSpPr/>
          <p:nvPr/>
        </p:nvSpPr>
        <p:spPr>
          <a:xfrm>
            <a:off x="8394192" y="5166360"/>
            <a:ext cx="3108960" cy="868680"/>
          </a:xfrm>
          <a:prstGeom prst="rect">
            <a:avLst/>
          </a:prstGeom>
          <a:noFill/>
          <a:ln/>
        </p:spPr>
        <p:txBody>
          <a:bodyPr wrap="square" rtlCol="0" anchor="ctr"/>
          <a:lstStyle/>
          <a:p>
            <a:pPr marL="0" indent="0">
              <a:lnSpc>
                <a:spcPct val="120000"/>
              </a:lnSpc>
              <a:buNone/>
            </a:pPr>
            <a:r>
              <a:rPr lang="en-US" sz="1050" dirty="0">
                <a:solidFill>
                  <a:srgbClr val="3A3A42"/>
                </a:solidFill>
                <a:latin typeface="Calibri" pitchFamily="34" charset="0"/>
                <a:ea typeface="Calibri" pitchFamily="34" charset="-122"/>
                <a:cs typeface="Calibri" pitchFamily="34" charset="-120"/>
              </a:rPr>
              <a:t>ROA improved as the company shed owned assets in favor of a franchise-heavy model.</a:t>
            </a:r>
            <a:endParaRPr lang="en-US" sz="1050" dirty="0"/>
          </a:p>
        </p:txBody>
      </p:sp>
      <p:sp>
        <p:nvSpPr>
          <p:cNvPr id="34" name="Text 32"/>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6B7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A291C"/>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777240"/>
            <a:ext cx="10058400" cy="548640"/>
          </a:xfrm>
          <a:prstGeom prst="rect">
            <a:avLst/>
          </a:prstGeom>
          <a:noFill/>
          <a:ln/>
        </p:spPr>
        <p:txBody>
          <a:bodyPr wrap="square" rtlCol="0" anchor="ctr"/>
          <a:lstStyle/>
          <a:p>
            <a:pPr marL="0" indent="0">
              <a:buNone/>
            </a:pPr>
            <a:r>
              <a:rPr lang="en-US" sz="3000" b="1" dirty="0">
                <a:solidFill>
                  <a:srgbClr val="1D1D24"/>
                </a:solidFill>
                <a:latin typeface="Cambria" pitchFamily="34" charset="0"/>
                <a:ea typeface="Cambria" pitchFamily="34" charset="-122"/>
                <a:cs typeface="Cambria" pitchFamily="34" charset="-120"/>
              </a:rPr>
              <a:t>Where Strategic Attention Is Needed</a:t>
            </a:r>
            <a:endParaRPr lang="en-US" sz="3000" dirty="0"/>
          </a:p>
        </p:txBody>
      </p:sp>
      <p:sp>
        <p:nvSpPr>
          <p:cNvPr id="4" name="Shape 2"/>
          <p:cNvSpPr/>
          <p:nvPr/>
        </p:nvSpPr>
        <p:spPr>
          <a:xfrm>
            <a:off x="548640" y="1600200"/>
            <a:ext cx="457200" cy="457200"/>
          </a:xfrm>
          <a:prstGeom prst="roundRect">
            <a:avLst>
              <a:gd name="adj" fmla="val 50000"/>
            </a:avLst>
          </a:prstGeom>
          <a:solidFill>
            <a:srgbClr val="DA291C"/>
          </a:solidFill>
          <a:ln/>
        </p:spPr>
      </p:sp>
      <p:sp>
        <p:nvSpPr>
          <p:cNvPr id="5" name="Text 3"/>
          <p:cNvSpPr/>
          <p:nvPr/>
        </p:nvSpPr>
        <p:spPr>
          <a:xfrm>
            <a:off x="548640" y="1600200"/>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234440" y="1618488"/>
            <a:ext cx="10332720" cy="685800"/>
          </a:xfrm>
          <a:prstGeom prst="rect">
            <a:avLst/>
          </a:prstGeom>
          <a:noFill/>
          <a:ln/>
        </p:spPr>
        <p:txBody>
          <a:bodyPr wrap="square" rtlCol="0" anchor="ctr"/>
          <a:lstStyle/>
          <a:p>
            <a:pPr marL="0" indent="0">
              <a:lnSpc>
                <a:spcPct val="115000"/>
              </a:lnSpc>
              <a:buNone/>
            </a:pPr>
            <a:r>
              <a:rPr lang="en-US" sz="1400" dirty="0">
                <a:solidFill>
                  <a:srgbClr val="2A2A33"/>
                </a:solidFill>
                <a:latin typeface="Calibri" pitchFamily="34" charset="0"/>
                <a:ea typeface="Calibri" pitchFamily="34" charset="-122"/>
                <a:cs typeface="Calibri" pitchFamily="34" charset="-120"/>
              </a:rPr>
              <a:t>Manage financial leverage carefully — monitor debt levels closely given negative equity, to preserve solvency and flexibility.</a:t>
            </a:r>
            <a:endParaRPr lang="en-US" sz="1400" dirty="0"/>
          </a:p>
        </p:txBody>
      </p:sp>
      <p:sp>
        <p:nvSpPr>
          <p:cNvPr id="7" name="Shape 5"/>
          <p:cNvSpPr/>
          <p:nvPr/>
        </p:nvSpPr>
        <p:spPr>
          <a:xfrm>
            <a:off x="548640" y="2441448"/>
            <a:ext cx="11064240" cy="0"/>
          </a:xfrm>
          <a:prstGeom prst="line">
            <a:avLst/>
          </a:prstGeom>
          <a:noFill/>
          <a:ln w="12700">
            <a:solidFill>
              <a:srgbClr val="E5E5E8"/>
            </a:solidFill>
            <a:prstDash val="solid"/>
          </a:ln>
        </p:spPr>
      </p:sp>
      <p:sp>
        <p:nvSpPr>
          <p:cNvPr id="8" name="Shape 6"/>
          <p:cNvSpPr/>
          <p:nvPr/>
        </p:nvSpPr>
        <p:spPr>
          <a:xfrm>
            <a:off x="548640" y="2532888"/>
            <a:ext cx="457200" cy="457200"/>
          </a:xfrm>
          <a:prstGeom prst="roundRect">
            <a:avLst>
              <a:gd name="adj" fmla="val 50000"/>
            </a:avLst>
          </a:prstGeom>
          <a:solidFill>
            <a:srgbClr val="1D1D24"/>
          </a:solidFill>
          <a:ln/>
        </p:spPr>
      </p:sp>
      <p:sp>
        <p:nvSpPr>
          <p:cNvPr id="9" name="Text 7"/>
          <p:cNvSpPr/>
          <p:nvPr/>
        </p:nvSpPr>
        <p:spPr>
          <a:xfrm>
            <a:off x="548640" y="2532888"/>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234440" y="2551176"/>
            <a:ext cx="10332720" cy="685800"/>
          </a:xfrm>
          <a:prstGeom prst="rect">
            <a:avLst/>
          </a:prstGeom>
          <a:noFill/>
          <a:ln/>
        </p:spPr>
        <p:txBody>
          <a:bodyPr wrap="square" rtlCol="0" anchor="ctr"/>
          <a:lstStyle/>
          <a:p>
            <a:pPr marL="0" indent="0">
              <a:lnSpc>
                <a:spcPct val="115000"/>
              </a:lnSpc>
              <a:buNone/>
            </a:pPr>
            <a:r>
              <a:rPr lang="en-US" sz="1400" dirty="0">
                <a:solidFill>
                  <a:srgbClr val="2A2A33"/>
                </a:solidFill>
                <a:latin typeface="Calibri" pitchFamily="34" charset="0"/>
                <a:ea typeface="Calibri" pitchFamily="34" charset="-122"/>
                <a:cs typeface="Calibri" pitchFamily="34" charset="-120"/>
              </a:rPr>
              <a:t>Sustain the dividend strategy responsibly — keep pay-out ratios aligned with earnings capacity and cash flow health.</a:t>
            </a:r>
            <a:endParaRPr lang="en-US" sz="1400" dirty="0"/>
          </a:p>
        </p:txBody>
      </p:sp>
      <p:sp>
        <p:nvSpPr>
          <p:cNvPr id="11" name="Shape 9"/>
          <p:cNvSpPr/>
          <p:nvPr/>
        </p:nvSpPr>
        <p:spPr>
          <a:xfrm>
            <a:off x="548640" y="3374136"/>
            <a:ext cx="11064240" cy="0"/>
          </a:xfrm>
          <a:prstGeom prst="line">
            <a:avLst/>
          </a:prstGeom>
          <a:noFill/>
          <a:ln w="12700">
            <a:solidFill>
              <a:srgbClr val="E5E5E8"/>
            </a:solidFill>
            <a:prstDash val="solid"/>
          </a:ln>
        </p:spPr>
      </p:sp>
      <p:sp>
        <p:nvSpPr>
          <p:cNvPr id="12" name="Shape 10"/>
          <p:cNvSpPr/>
          <p:nvPr/>
        </p:nvSpPr>
        <p:spPr>
          <a:xfrm>
            <a:off x="548640" y="3465576"/>
            <a:ext cx="457200" cy="457200"/>
          </a:xfrm>
          <a:prstGeom prst="roundRect">
            <a:avLst>
              <a:gd name="adj" fmla="val 50000"/>
            </a:avLst>
          </a:prstGeom>
          <a:solidFill>
            <a:srgbClr val="1D1D24"/>
          </a:solidFill>
          <a:ln/>
        </p:spPr>
      </p:sp>
      <p:sp>
        <p:nvSpPr>
          <p:cNvPr id="13" name="Text 11"/>
          <p:cNvSpPr/>
          <p:nvPr/>
        </p:nvSpPr>
        <p:spPr>
          <a:xfrm>
            <a:off x="548640" y="3465576"/>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234440" y="3483864"/>
            <a:ext cx="10332720" cy="685800"/>
          </a:xfrm>
          <a:prstGeom prst="rect">
            <a:avLst/>
          </a:prstGeom>
          <a:noFill/>
          <a:ln/>
        </p:spPr>
        <p:txBody>
          <a:bodyPr wrap="square" rtlCol="0" anchor="ctr"/>
          <a:lstStyle/>
          <a:p>
            <a:pPr marL="0" indent="0">
              <a:lnSpc>
                <a:spcPct val="115000"/>
              </a:lnSpc>
              <a:buNone/>
            </a:pPr>
            <a:r>
              <a:rPr lang="en-US" sz="1400" dirty="0">
                <a:solidFill>
                  <a:srgbClr val="2A2A33"/>
                </a:solidFill>
                <a:latin typeface="Calibri" pitchFamily="34" charset="0"/>
                <a:ea typeface="Calibri" pitchFamily="34" charset="-122"/>
                <a:cs typeface="Calibri" pitchFamily="34" charset="-120"/>
              </a:rPr>
              <a:t>Preserve operational efficiency — keep improving margins and asset utilization to offset slower revenue growth.</a:t>
            </a:r>
            <a:endParaRPr lang="en-US" sz="1400" dirty="0"/>
          </a:p>
        </p:txBody>
      </p:sp>
      <p:sp>
        <p:nvSpPr>
          <p:cNvPr id="15" name="Shape 13"/>
          <p:cNvSpPr/>
          <p:nvPr/>
        </p:nvSpPr>
        <p:spPr>
          <a:xfrm>
            <a:off x="548640" y="4306824"/>
            <a:ext cx="11064240" cy="0"/>
          </a:xfrm>
          <a:prstGeom prst="line">
            <a:avLst/>
          </a:prstGeom>
          <a:noFill/>
          <a:ln w="12700">
            <a:solidFill>
              <a:srgbClr val="E5E5E8"/>
            </a:solidFill>
            <a:prstDash val="solid"/>
          </a:ln>
        </p:spPr>
      </p:sp>
      <p:sp>
        <p:nvSpPr>
          <p:cNvPr id="16" name="Shape 14"/>
          <p:cNvSpPr/>
          <p:nvPr/>
        </p:nvSpPr>
        <p:spPr>
          <a:xfrm>
            <a:off x="548640" y="4398264"/>
            <a:ext cx="457200" cy="457200"/>
          </a:xfrm>
          <a:prstGeom prst="roundRect">
            <a:avLst>
              <a:gd name="adj" fmla="val 50000"/>
            </a:avLst>
          </a:prstGeom>
          <a:solidFill>
            <a:srgbClr val="DA291C"/>
          </a:solidFill>
          <a:ln/>
        </p:spPr>
      </p:sp>
      <p:sp>
        <p:nvSpPr>
          <p:cNvPr id="17" name="Text 15"/>
          <p:cNvSpPr/>
          <p:nvPr/>
        </p:nvSpPr>
        <p:spPr>
          <a:xfrm>
            <a:off x="548640" y="4398264"/>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234440" y="4416552"/>
            <a:ext cx="10332720" cy="685800"/>
          </a:xfrm>
          <a:prstGeom prst="rect">
            <a:avLst/>
          </a:prstGeom>
          <a:noFill/>
          <a:ln/>
        </p:spPr>
        <p:txBody>
          <a:bodyPr wrap="square" rtlCol="0" anchor="ctr"/>
          <a:lstStyle/>
          <a:p>
            <a:pPr marL="0" indent="0">
              <a:lnSpc>
                <a:spcPct val="115000"/>
              </a:lnSpc>
              <a:buNone/>
            </a:pPr>
            <a:r>
              <a:rPr lang="en-US" sz="1400" dirty="0">
                <a:solidFill>
                  <a:srgbClr val="2A2A33"/>
                </a:solidFill>
                <a:latin typeface="Calibri" pitchFamily="34" charset="0"/>
                <a:ea typeface="Calibri" pitchFamily="34" charset="-122"/>
                <a:cs typeface="Calibri" pitchFamily="34" charset="-120"/>
              </a:rPr>
              <a:t>Mitigate debt exposure risk — build contingency plans for interest-rate increases or cash-flow disruption.</a:t>
            </a:r>
            <a:endParaRPr lang="en-US" sz="1400" dirty="0"/>
          </a:p>
        </p:txBody>
      </p:sp>
      <p:sp>
        <p:nvSpPr>
          <p:cNvPr id="19" name="Shape 17"/>
          <p:cNvSpPr/>
          <p:nvPr/>
        </p:nvSpPr>
        <p:spPr>
          <a:xfrm>
            <a:off x="548640" y="5239512"/>
            <a:ext cx="11064240" cy="0"/>
          </a:xfrm>
          <a:prstGeom prst="line">
            <a:avLst/>
          </a:prstGeom>
          <a:noFill/>
          <a:ln w="12700">
            <a:solidFill>
              <a:srgbClr val="E5E5E8"/>
            </a:solidFill>
            <a:prstDash val="solid"/>
          </a:ln>
        </p:spPr>
      </p:sp>
      <p:sp>
        <p:nvSpPr>
          <p:cNvPr id="20" name="Shape 18"/>
          <p:cNvSpPr/>
          <p:nvPr/>
        </p:nvSpPr>
        <p:spPr>
          <a:xfrm>
            <a:off x="548640" y="5330952"/>
            <a:ext cx="457200" cy="457200"/>
          </a:xfrm>
          <a:prstGeom prst="roundRect">
            <a:avLst>
              <a:gd name="adj" fmla="val 50000"/>
            </a:avLst>
          </a:prstGeom>
          <a:solidFill>
            <a:srgbClr val="1D1D24"/>
          </a:solidFill>
          <a:ln/>
        </p:spPr>
      </p:sp>
      <p:sp>
        <p:nvSpPr>
          <p:cNvPr id="21" name="Text 19"/>
          <p:cNvSpPr/>
          <p:nvPr/>
        </p:nvSpPr>
        <p:spPr>
          <a:xfrm>
            <a:off x="548640" y="5330952"/>
            <a:ext cx="457200" cy="457200"/>
          </a:xfrm>
          <a:prstGeom prst="rect">
            <a:avLst/>
          </a:prstGeom>
          <a:noFill/>
          <a:ln/>
        </p:spPr>
        <p:txBody>
          <a:bodyPr wrap="square" rtlCol="0" anchor="ctr"/>
          <a:lstStyle/>
          <a:p>
            <a:pPr marL="0" indent="0" algn="ctr">
              <a:buNone/>
            </a:pPr>
            <a:r>
              <a:rPr lang="en-US" sz="1600" b="1" dirty="0">
                <a:solidFill>
                  <a:srgbClr val="FFC72C"/>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1234440" y="5349240"/>
            <a:ext cx="10332720" cy="685800"/>
          </a:xfrm>
          <a:prstGeom prst="rect">
            <a:avLst/>
          </a:prstGeom>
          <a:noFill/>
          <a:ln/>
        </p:spPr>
        <p:txBody>
          <a:bodyPr wrap="square" rtlCol="0" anchor="ctr"/>
          <a:lstStyle/>
          <a:p>
            <a:pPr marL="0" indent="0">
              <a:lnSpc>
                <a:spcPct val="115000"/>
              </a:lnSpc>
              <a:buNone/>
            </a:pPr>
            <a:r>
              <a:rPr lang="en-US" sz="1400" dirty="0">
                <a:solidFill>
                  <a:srgbClr val="2A2A33"/>
                </a:solidFill>
                <a:latin typeface="Calibri" pitchFamily="34" charset="0"/>
                <a:ea typeface="Calibri" pitchFamily="34" charset="-122"/>
                <a:cs typeface="Calibri" pitchFamily="34" charset="-120"/>
              </a:rPr>
              <a:t>Balance returns with reinvestment — pair buybacks and dividends with continued investment in innovation and new markets.</a:t>
            </a:r>
            <a:endParaRPr lang="en-US" sz="1400" dirty="0"/>
          </a:p>
        </p:txBody>
      </p:sp>
      <p:sp>
        <p:nvSpPr>
          <p:cNvPr id="23" name="Text 21"/>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6B6B7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D1D24"/>
        </a:solidFill>
        <a:effectLst/>
      </p:bgPr>
    </p:bg>
    <p:spTree>
      <p:nvGrpSpPr>
        <p:cNvPr id="1" name=""/>
        <p:cNvGrpSpPr/>
        <p:nvPr/>
      </p:nvGrpSpPr>
      <p:grpSpPr>
        <a:xfrm>
          <a:off x="0" y="0"/>
          <a:ext cx="0" cy="0"/>
          <a:chOff x="0" y="0"/>
          <a:chExt cx="0" cy="0"/>
        </a:xfrm>
      </p:grpSpPr>
      <p:sp>
        <p:nvSpPr>
          <p:cNvPr id="2" name="Shape 0"/>
          <p:cNvSpPr/>
          <p:nvPr/>
        </p:nvSpPr>
        <p:spPr>
          <a:xfrm>
            <a:off x="-1645920" y="4378487"/>
            <a:ext cx="4114800" cy="4114800"/>
          </a:xfrm>
          <a:prstGeom prst="ellipse">
            <a:avLst/>
          </a:prstGeom>
          <a:solidFill>
            <a:srgbClr val="2A2A33"/>
          </a:solidFill>
          <a:ln/>
        </p:spPr>
      </p:sp>
      <p:sp>
        <p:nvSpPr>
          <p:cNvPr id="3" name="Text 1"/>
          <p:cNvSpPr/>
          <p:nvPr/>
        </p:nvSpPr>
        <p:spPr>
          <a:xfrm>
            <a:off x="822960" y="822960"/>
            <a:ext cx="5486400" cy="365760"/>
          </a:xfrm>
          <a:prstGeom prst="rect">
            <a:avLst/>
          </a:prstGeom>
          <a:noFill/>
          <a:ln/>
        </p:spPr>
        <p:txBody>
          <a:bodyPr wrap="square" rtlCol="0" anchor="ctr"/>
          <a:lstStyle/>
          <a:p>
            <a:pPr marL="0" indent="0">
              <a:buNone/>
            </a:pPr>
            <a:r>
              <a:rPr lang="en-US" sz="1300" b="1" kern="0" spc="300" dirty="0">
                <a:solidFill>
                  <a:srgbClr val="FFC72C"/>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777240" y="1234440"/>
            <a:ext cx="987552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From revenue growth to operational optimization</a:t>
            </a:r>
            <a:endParaRPr lang="en-US" sz="3000" dirty="0"/>
          </a:p>
        </p:txBody>
      </p:sp>
      <p:sp>
        <p:nvSpPr>
          <p:cNvPr id="5" name="Text 3"/>
          <p:cNvSpPr/>
          <p:nvPr/>
        </p:nvSpPr>
        <p:spPr>
          <a:xfrm>
            <a:off x="822960" y="2194560"/>
            <a:ext cx="7498080" cy="1737360"/>
          </a:xfrm>
          <a:prstGeom prst="rect">
            <a:avLst/>
          </a:prstGeom>
          <a:noFill/>
          <a:ln/>
        </p:spPr>
        <p:txBody>
          <a:bodyPr wrap="square" rtlCol="0" anchor="ctr"/>
          <a:lstStyle/>
          <a:p>
            <a:pPr marL="0" indent="0">
              <a:lnSpc>
                <a:spcPct val="130000"/>
              </a:lnSpc>
              <a:buNone/>
            </a:pPr>
            <a:r>
              <a:rPr lang="en-US" sz="1400" dirty="0">
                <a:solidFill>
                  <a:srgbClr val="C7C7CF"/>
                </a:solidFill>
                <a:latin typeface="Calibri" pitchFamily="34" charset="0"/>
                <a:ea typeface="Calibri" pitchFamily="34" charset="-122"/>
                <a:cs typeface="Calibri" pitchFamily="34" charset="-120"/>
              </a:rPr>
              <a:t>McDonald's 2002–2022 trajectory reflects a shift from top-line expansion toward margin discipline and capital restructuring. The company strengthened margins and sustained earnings growth, but its aggressive post-2014 use of leverage — including heavy share repurchases — reshaped its capital structure, rewarding shareholders in the short term while raising long-term financial risk.</a:t>
            </a:r>
            <a:endParaRPr lang="en-US" sz="1400" dirty="0"/>
          </a:p>
        </p:txBody>
      </p:sp>
      <p:sp>
        <p:nvSpPr>
          <p:cNvPr id="6" name="Shape 4"/>
          <p:cNvSpPr/>
          <p:nvPr/>
        </p:nvSpPr>
        <p:spPr>
          <a:xfrm>
            <a:off x="822960" y="4160520"/>
            <a:ext cx="457200" cy="45720"/>
          </a:xfrm>
          <a:prstGeom prst="rect">
            <a:avLst/>
          </a:prstGeom>
          <a:solidFill>
            <a:srgbClr val="DA291C"/>
          </a:solidFill>
          <a:ln/>
        </p:spPr>
      </p:sp>
      <p:sp>
        <p:nvSpPr>
          <p:cNvPr id="7" name="Text 5"/>
          <p:cNvSpPr/>
          <p:nvPr/>
        </p:nvSpPr>
        <p:spPr>
          <a:xfrm>
            <a:off x="822960" y="4343400"/>
            <a:ext cx="5486400" cy="365760"/>
          </a:xfrm>
          <a:prstGeom prst="rect">
            <a:avLst/>
          </a:prstGeom>
          <a:noFill/>
          <a:ln/>
        </p:spPr>
        <p:txBody>
          <a:bodyPr wrap="square" rtlCol="0" anchor="ctr"/>
          <a:lstStyle/>
          <a:p>
            <a:pPr marL="0" indent="0">
              <a:buNone/>
            </a:pPr>
            <a:r>
              <a:rPr lang="en-US" sz="1200" dirty="0">
                <a:solidFill>
                  <a:srgbClr val="9A9AA5"/>
                </a:solidFill>
                <a:latin typeface="Calibri" pitchFamily="34" charset="0"/>
                <a:ea typeface="Calibri" pitchFamily="34" charset="-122"/>
                <a:cs typeface="Calibri" pitchFamily="34" charset="-120"/>
              </a:rPr>
              <a:t>Tools: Excel · Power Query · VBA · Dashboard design</a:t>
            </a:r>
            <a:endParaRPr lang="en-US" sz="1200" dirty="0"/>
          </a:p>
        </p:txBody>
      </p:sp>
      <p:sp>
        <p:nvSpPr>
          <p:cNvPr id="8" name="Text 6"/>
          <p:cNvSpPr/>
          <p:nvPr/>
        </p:nvSpPr>
        <p:spPr>
          <a:xfrm>
            <a:off x="822960" y="4709160"/>
            <a:ext cx="7315200" cy="365760"/>
          </a:xfrm>
          <a:prstGeom prst="rect">
            <a:avLst/>
          </a:prstGeom>
          <a:noFill/>
          <a:ln/>
        </p:spPr>
        <p:txBody>
          <a:bodyPr wrap="square" rtlCol="0" anchor="ctr"/>
          <a:lstStyle/>
          <a:p>
            <a:pPr marL="0" indent="0">
              <a:buNone/>
            </a:pPr>
            <a:r>
              <a:rPr lang="en-US" sz="1200" dirty="0">
                <a:solidFill>
                  <a:srgbClr val="9A9AA5"/>
                </a:solidFill>
                <a:latin typeface="Calibri" pitchFamily="34" charset="0"/>
                <a:ea typeface="Calibri" pitchFamily="34" charset="-122"/>
                <a:cs typeface="Calibri" pitchFamily="34" charset="-120"/>
              </a:rPr>
              <a:t>Data source: Kaggle — mcdonalds-financial-statements-2002-2022</a:t>
            </a:r>
            <a:endParaRPr lang="en-US" sz="1200" dirty="0"/>
          </a:p>
        </p:txBody>
      </p:sp>
      <p:sp>
        <p:nvSpPr>
          <p:cNvPr id="9" name="Text 7"/>
          <p:cNvSpPr/>
          <p:nvPr/>
        </p:nvSpPr>
        <p:spPr>
          <a:xfrm>
            <a:off x="822960" y="5074920"/>
            <a:ext cx="7315200" cy="365760"/>
          </a:xfrm>
          <a:prstGeom prst="rect">
            <a:avLst/>
          </a:prstGeom>
          <a:noFill/>
          <a:ln/>
        </p:spPr>
        <p:txBody>
          <a:bodyPr wrap="square" rtlCol="0" anchor="ctr"/>
          <a:lstStyle/>
          <a:p>
            <a:pPr marL="0" indent="0">
              <a:buNone/>
            </a:pPr>
            <a:r>
              <a:rPr lang="en-US" sz="1200" i="1" dirty="0">
                <a:solidFill>
                  <a:srgbClr val="FFC72C"/>
                </a:solidFill>
                <a:latin typeface="Calibri" pitchFamily="34" charset="0"/>
                <a:ea typeface="Calibri" pitchFamily="34" charset="-122"/>
                <a:cs typeface="Calibri" pitchFamily="34" charset="-120"/>
              </a:rPr>
              <a:t>Full workbook, dashboard, and report available in this repository.</a:t>
            </a:r>
            <a:endParaRPr lang="en-US" sz="1200" dirty="0"/>
          </a:p>
        </p:txBody>
      </p:sp>
      <p:sp>
        <p:nvSpPr>
          <p:cNvPr id="10" name="Text 8"/>
          <p:cNvSpPr/>
          <p:nvPr/>
        </p:nvSpPr>
        <p:spPr>
          <a:xfrm>
            <a:off x="822960" y="5852160"/>
            <a:ext cx="54864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1058</Words>
  <Application>Microsoft Macintosh PowerPoint</Application>
  <PresentationFormat>Widescreen</PresentationFormat>
  <Paragraphs>144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2</cp:revision>
  <dcterms:created xsi:type="dcterms:W3CDTF">2026-08-14T22:54:14Z</dcterms:created>
  <dcterms:modified xsi:type="dcterms:W3CDTF">2026-08-15T00:02:47Z</dcterms:modified>
</cp:coreProperties>
</file>